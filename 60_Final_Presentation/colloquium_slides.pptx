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Frames</c:v>
                </c:pt>
              </c:strCache>
            </c:strRef>
          </c:tx>
          <c:spPr>
            <a:solidFill>
              <a:srgbClr val="5F6B7A"/>
            </a:solidFill>
          </c:spPr>
          <c:cat>
            <c:strRef>
              <c:f>Sheet1!$A$2:$A$7</c:f>
              <c:strCache>
                <c:ptCount val="6"/>
                <c:pt idx="0">
                  <c:v>0x065</c:v>
                </c:pt>
                <c:pt idx="1">
                  <c:v>0x066</c:v>
                </c:pt>
                <c:pt idx="2">
                  <c:v>0x067</c:v>
                </c:pt>
                <c:pt idx="3">
                  <c:v>0x068</c:v>
                </c:pt>
                <c:pt idx="4">
                  <c:v>0x06B</c:v>
                </c:pt>
                <c:pt idx="5">
                  <c:v>0x06F</c:v>
                </c:pt>
              </c:strCache>
            </c:strRef>
          </c:cat>
          <c:val>
            <c:numRef>
              <c:f>Sheet1!$B$2:$B$7</c:f>
              <c:numCache>
                <c:formatCode>General</c:formatCode>
                <c:ptCount val="6"/>
                <c:pt idx="0">
                  <c:v>2652</c:v>
                </c:pt>
                <c:pt idx="1">
                  <c:v>2561</c:v>
                </c:pt>
                <c:pt idx="2">
                  <c:v>2341</c:v>
                </c:pt>
                <c:pt idx="3">
                  <c:v>2341</c:v>
                </c:pt>
                <c:pt idx="4">
                  <c:v>2340</c:v>
                </c:pt>
                <c:pt idx="5">
                  <c:v>2686</c:v>
                </c:pt>
              </c:numCache>
            </c:numRef>
          </c:val>
        </c:ser>
        <c:dLbls>
          <c:numFmt formatCode="0" sourceLinked="0"/>
          <c:txPr>
            <a:bodyPr/>
            <a:lstStyle/>
            <a:p>
              <a:pPr>
                <a:defRPr sz="1300">
                  <a:solidFill>
                    <a:srgbClr val="1B2430"/>
                  </a:solidFill>
                  <a:latin typeface="Calibri"/>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nextTo"/>
        <c:spPr>
          <a:ln>
            <a:solidFill>
              <a:srgbClr val="D9DEE4"/>
            </a:solidFill>
          </a:ln>
        </c:spPr>
        <c:txPr>
          <a:bodyPr/>
          <a:lstStyle/>
          <a:p>
            <a:pPr>
              <a:defRPr sz="1400">
                <a:solidFill>
                  <a:srgbClr val="1B2430"/>
                </a:solidFill>
                <a:latin typeface="Consolas"/>
              </a:defRPr>
            </a:pPr>
          </a:p>
        </c:txPr>
        <c:crossAx val="-2113994440"/>
        <c:crosses val="autoZero"/>
        <c:auto val="1"/>
        <c:lblAlgn val="ctr"/>
        <c:lblOffset val="100"/>
        <c:noMultiLvlLbl val="0"/>
      </c:catAx>
      <c:valAx>
        <c:axId val="-2113994440"/>
        <c:scaling>
          <c:max val="3000.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My thesis asks a simple question: can you read what the battery of a modern electric car knows about itself, using only the diagnostic socket under the dashboard, without opening anything? The car is THI's Volkswagen ID. Buzz. I will first explain in two slides how the car's internal network works, because the whole method follows from one architectural detail. Then the setup, the results for each of my four research questions, and finally what the method cannot do yet.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high-voltage battery is the most expensive part of the car, and its management system continuously knows a lot: state of charge, every cell voltage, temperatures, how much power it may deliver. That information decides range, lifetime and safety. Anyone outside the car who wants it, for example to judge a used vehicle, to monitor a fleet, or to inspect a battery after a crash, has no official access to it. Volkswagen does not publish how to read it. That gap is what this thesis works 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anyone not from communications engineering, the CAN bus is the car's internal network: two twisted wires that every control unit is connected to. It behaves like a radio channel. Every unit hears every message, and a message does not say who it is for, it says what it is about, through an identifier number. The payload is at most eight bytes on this car. What you record is exactly what is shown here: a number and some bytes. Without the manufacturer's dictionary you can see that a message arrives, but not what it means. Recovering that meaning is what reverse engineering means in this thesis.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architectural detail everything follows from. On Volkswagen's MEB platform the buses are separated into domains, joined only by a central gateway. The battery-management system talks on a private bus behind it. Classic reverse engineering plugs a logger into the bus where the battery talks and listens. But the only bus I can reach without opening the car is the one at the diagnostic socket, and the gateway does not pass the battery's messages there. What it does pass are diagnostic requests, because workshops must be able to talk to every control unit. That is the open door. Research question one asks exactly this: which bus is at the socket, and why the battery frames are not on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did not take the gateway isolation on faith; I tested it. From March I recorded the socket and analysed the traffic the way the literature does: bit maps, counters, candidate 16-bit signals. In this recording there are almost fifteen thousand unsolicited frames on six identifiers, 0x065 to 0x06F. In the thesis, Section 4.1.1, I read them as traffic the gateway forwards. While building the decoder after submission I found that these identifiers are the logger's own internal GNSS and IMU channel; they do not come from the car at all. That makes the answer to research question one stronger, not weaker: not a single broadcast frame of the vehicle, and certainly none of the battery, reaches the socket. The battery's frames stay on the private side of the gateway, passive methods have no input, and that is why the method changed from listening to asking.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new approach in its simplest form. The logger sends one frame that says: please give me value number 1E3B. The gateway passes it to the battery-management system, which answers with the bytes of that value. This is a standard workshop service called Read Data By Identifier. The identifier, D-I-D, is just the number of a value in the control unit's catalogue. One constraint matters for the results later: a CAN frame holds eight bytes, so an answer longer than seven data bytes must be split into pieces, and the receiver has to send a small flow-control frame before the rest comes. My logger can only send fixed frames from a list; it cannot react. So long answers arrive truncated. Keep that in mind; it explains six of my eight failures.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hardware is deliberately minimal. A CANedge2 logger, connected to the diagnostic socket through a plain OBD-to-DB9 cable: no splitter, no second tester, no laptop on the bus. The logger opens an extended diagnostic session with the BMS, keeps it alive, and sends sixty read requests every ten seconds, spaced 150 milliseconds apart so the bus is never flooded. Because the logger also records its own transmissions, one file holds the question and the answer on the same time base. All recordings were taken with the car switched on, drive-ready, but standing still. Three independent sessions gave the same outcome.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Volkswagen publishes neither the identifiers nor their formulas. What exists is a list compiled by the diagnostics community for the related ID.3. I treated that list as a hypothesis to be tested, not as a specification. Every identifier had to pass three gates, and they are my research questions two, three and four. Does the Buzz answer it? Does the ID.3 formula turn the bytes into a sensible quantity? And is that quantity actually true when checked against something the decoder could not have produced? The funnel shows how many survived each gate: sixty asked, fifty-two answered, forty-nine usable, and only two directly confirmed plus about a dozen confirmed through physical relations. The next slides go through the gates one by one.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Research question two: what is reachable through the gateway without unlocking anything? Each square is one requested identifier. Forty-nine answered with a usable value. Three answered with a special code that I will explain in a moment. Six arrived only as a first piece: these are exactly the identifiers whose answers are longer than seven bytes, like the VIN or the pack current, so this is the logger's limitation, predicted before the measurement. Two gateway identifiers never answered; the gateway itself was reachable, because another of its identifiers answered every time, but I had not opened a diagnostic session on it. The important point: the same squares fail in every session, so the failures are systematic and explained, not random loss.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decoding means in practice. The question: 03 says three bytes follow, 22 is the read service, 1E 3B is the identifier, the rest is Volkswagen's padding. The answer: 62 is 22 plus 40 hexadecimal, which the standard defines as a positive response; then the identifier is echoed, which lets every answer be matched to its question; then the value, 05 D5, which is 1493. The ID.3 list says divide by four: 373.25 volts. For most identifiers the ID.3 formula transferred to the Buzz unchanged, and the table shows values from the same session, read 53 to 54 times each. But a plausible number is not yet a proven number; that is research question four. First, three things the list got wrong or did not contain.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finding. The community list describes these two identifiers only as the number of the highest and lowest cell, the last byte. But the answer has four data bytes. I found that the first two are the cell voltage itself, divided by 4096, a factor that differs from the 1000 used by the single-cell identifiers, so it could not have been guessed. The proof is a relation the decoder knows nothing about: a maximum and a minimum over all cells must enclose every individual cell I sampled, and they do. With an arbitrary scale factor they would not. Also: cell 96 is the lowest cell in every one of 112 reads. And honestly, my first attempt read the wrong byte and named the same cell as highest and lowest. That impossibility is what exposed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more findings. Some cell slots return the raw value 0FFE. Under the list's formula that would be 5.09 volts, impossible for a lithium-ion cell. 0FFE is one below the largest 12-bit value, a typical reserved code. So the identifier is not broken, it is correctly reporting that there is no cell there. I wrote down an explicit criterion for this: bit-exact in every read, at the top of the field, physically impossible. Second, the number of cells is not published. Three independent arguments agree: slot 97 and above are empty; the BMS names cell 96 as existing; and the pack voltage divided by the mean cell voltage is 96.0, while 95 or 97 would miss the measured band by about four volts. With Volkswagen's 288 cells, that means three cells in parallel per group.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Research question four is the one I think matters most. Any formula can turn a raw integer into something that looks like a voltage. So for each signal I asked: what is known about it independently of the formula? Only two signals reach class A: the car was visibly switched on and standing still, and the decoded operating mode and speed say exactly that. About a dozen are in class B: no external reference, but they satisfy physical relations they were not fitted to, like the integer ratio of pack to cell voltage. That fixes them relative to each other, though a common error factor would survive. State of charge is class C: sensible, but I had no reference, for example the dashboard reading, recorded at the same moment. I report this distribution as a result, not as a weakness to hide.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the method cannot do yet. Everything was recorded standing still, so current and power stayed near zero and their formulas could only be checked for plausibility. Driving and fast-charging scenarios fix that directly. The truncated answers, including pack current, need a tester that handles multi-frame transport; that is a property of my logger, not of the car. The two silent gateway identifiers need a diagnostic session on the gateway. And state of health I did not request; some identifiers are protected by a seed-and-key security access, which should only be opened with the manufacturer, not bypassed. A practical use is post-crash inspection: the safety-relevant battery state can be read without opening anything.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The battery data of the ID. Buzz cannot be overheard at the socket, but it can be asked for, with one logger and no second device on the bus. Fifty-two of sixty identifiers answer, and every failure is explained. The ID.3 list transfers mostly, and I found three things it does not contain. And I graded every value by the evidence behind it, which shows honestly that only two are validated against the outside world, about a dozen by physics. The contribution is therefore a working acquisition method, a measured transfer rate of the ID.3 list, and three new encodings.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430"/>
        </a:solidFill>
        <a:effectLst/>
      </p:bgPr>
    </p:bg>
    <p:spTree>
      <p:nvGrpSpPr>
        <p:cNvPr id="1" name=""/>
        <p:cNvGrpSpPr/>
        <p:nvPr/>
      </p:nvGrpSpPr>
      <p:grpSpPr/>
      <p:sp>
        <p:nvSpPr>
          <p:cNvPr id="2" name="TextBox 1"/>
          <p:cNvSpPr txBox="1"/>
          <p:nvPr/>
        </p:nvSpPr>
        <p:spPr>
          <a:xfrm>
            <a:off x="10972800" y="6419088"/>
            <a:ext cx="621792" cy="228600"/>
          </a:xfrm>
          <a:prstGeom prst="rect">
            <a:avLst/>
          </a:prstGeom>
          <a:noFill/>
        </p:spPr>
        <p:txBody>
          <a:bodyPr wrap="square" lIns="0" rIns="0" tIns="0" bIns="0" anchor="t">
            <a:spAutoFit/>
          </a:bodyPr>
          <a:lstStyle/>
          <a:p>
            <a:pPr algn="r">
              <a:spcAft>
                <a:spcPts val="0"/>
              </a:spcAft>
            </a:pPr>
            <a:r>
              <a:rPr sz="1000" b="0" i="0">
                <a:solidFill>
                  <a:srgbClr val="5F6B7A"/>
                </a:solidFill>
                <a:latin typeface="Calibri"/>
              </a:rPr>
              <a:t>1 / 15</a:t>
            </a:r>
          </a:p>
        </p:txBody>
      </p:sp>
      <p:pic>
        <p:nvPicPr>
          <p:cNvPr id="3" name="Picture 2" descr="id_buzz.jpg"/>
          <p:cNvPicPr>
            <a:picLocks noChangeAspect="1"/>
          </p:cNvPicPr>
          <p:nvPr/>
        </p:nvPicPr>
        <p:blipFill>
          <a:blip r:embed="rId2"/>
          <a:srcRect l="19844" r="19844"/>
          <a:stretch>
            <a:fillRect/>
          </a:stretch>
        </p:blipFill>
        <p:spPr>
          <a:xfrm>
            <a:off x="5989320" y="0"/>
            <a:ext cx="6202375" cy="6858000"/>
          </a:xfrm>
          <a:prstGeom prst="rect">
            <a:avLst/>
          </a:prstGeom>
        </p:spPr>
      </p:pic>
      <p:sp>
        <p:nvSpPr>
          <p:cNvPr id="4" name="TextBox 3"/>
          <p:cNvSpPr txBox="1"/>
          <p:nvPr/>
        </p:nvSpPr>
        <p:spPr>
          <a:xfrm>
            <a:off x="8686800" y="6492240"/>
            <a:ext cx="3017520" cy="228600"/>
          </a:xfrm>
          <a:prstGeom prst="rect">
            <a:avLst/>
          </a:prstGeom>
          <a:noFill/>
        </p:spPr>
        <p:txBody>
          <a:bodyPr wrap="square" lIns="0" rIns="0" tIns="0" bIns="0" anchor="t">
            <a:spAutoFit/>
          </a:bodyPr>
          <a:lstStyle/>
          <a:p>
            <a:pPr algn="r">
              <a:spcAft>
                <a:spcPts val="0"/>
              </a:spcAft>
            </a:pPr>
            <a:r>
              <a:rPr sz="900" b="0" i="0">
                <a:solidFill>
                  <a:srgbClr val="FFFFFF"/>
                </a:solidFill>
                <a:latin typeface="Calibri"/>
              </a:rPr>
              <a:t>Photo: Volkswagen AG</a:t>
            </a:r>
          </a:p>
        </p:txBody>
      </p:sp>
      <p:sp>
        <p:nvSpPr>
          <p:cNvPr id="5" name="TextBox 4"/>
          <p:cNvSpPr txBox="1"/>
          <p:nvPr/>
        </p:nvSpPr>
        <p:spPr>
          <a:xfrm>
            <a:off x="640080" y="822960"/>
            <a:ext cx="5029200" cy="274320"/>
          </a:xfrm>
          <a:prstGeom prst="rect">
            <a:avLst/>
          </a:prstGeom>
          <a:noFill/>
        </p:spPr>
        <p:txBody>
          <a:bodyPr wrap="square" lIns="0" rIns="0" tIns="0" bIns="0" anchor="t">
            <a:spAutoFit/>
          </a:bodyPr>
          <a:lstStyle/>
          <a:p>
            <a:pPr algn="l">
              <a:spcAft>
                <a:spcPts val="0"/>
              </a:spcAft>
            </a:pPr>
            <a:r>
              <a:rPr sz="1200" b="0" i="0">
                <a:solidFill>
                  <a:srgbClr val="B9DBD4"/>
                </a:solidFill>
                <a:latin typeface="Bahnschrift SemiBold"/>
              </a:rPr>
              <a:t>BACHELOR THESIS · COLLOQUIUM</a:t>
            </a:r>
          </a:p>
        </p:txBody>
      </p:sp>
      <p:sp>
        <p:nvSpPr>
          <p:cNvPr id="6" name="TextBox 5"/>
          <p:cNvSpPr txBox="1"/>
          <p:nvPr/>
        </p:nvSpPr>
        <p:spPr>
          <a:xfrm>
            <a:off x="640080" y="1280160"/>
            <a:ext cx="5074920" cy="2377440"/>
          </a:xfrm>
          <a:prstGeom prst="rect">
            <a:avLst/>
          </a:prstGeom>
          <a:noFill/>
        </p:spPr>
        <p:txBody>
          <a:bodyPr wrap="square" lIns="0" rIns="0" tIns="0" bIns="0" anchor="t">
            <a:spAutoFit/>
          </a:bodyPr>
          <a:lstStyle/>
          <a:p>
            <a:pPr algn="l">
              <a:lnSpc>
                <a:spcPct val="92000"/>
              </a:lnSpc>
              <a:spcAft>
                <a:spcPts val="0"/>
              </a:spcAft>
            </a:pPr>
            <a:r>
              <a:rPr sz="3800" b="0" i="0">
                <a:solidFill>
                  <a:srgbClr val="FFFFFF"/>
                </a:solidFill>
                <a:latin typeface="Bahnschrift SemiBold"/>
              </a:rPr>
              <a:t>Reading the battery of a VW ID. Buzz through the OBD-II port</a:t>
            </a:r>
          </a:p>
        </p:txBody>
      </p:sp>
      <p:sp>
        <p:nvSpPr>
          <p:cNvPr id="7" name="TextBox 6"/>
          <p:cNvSpPr txBox="1"/>
          <p:nvPr/>
        </p:nvSpPr>
        <p:spPr>
          <a:xfrm>
            <a:off x="640080" y="3611880"/>
            <a:ext cx="4937760" cy="914400"/>
          </a:xfrm>
          <a:prstGeom prst="rect">
            <a:avLst/>
          </a:prstGeom>
          <a:noFill/>
        </p:spPr>
        <p:txBody>
          <a:bodyPr wrap="square" lIns="0" rIns="0" tIns="0" bIns="0" anchor="t">
            <a:spAutoFit/>
          </a:bodyPr>
          <a:lstStyle/>
          <a:p>
            <a:pPr algn="l">
              <a:lnSpc>
                <a:spcPct val="100000"/>
              </a:lnSpc>
              <a:spcAft>
                <a:spcPts val="0"/>
              </a:spcAft>
            </a:pPr>
            <a:r>
              <a:rPr sz="1400" b="0" i="0">
                <a:solidFill>
                  <a:srgbClr val="B8C2CC"/>
                </a:solidFill>
                <a:latin typeface="Calibri"/>
              </a:rPr>
              <a:t>Identification and Interpretation of BMS Signals Through CAN Bus Reverse Engineering on the Volkswagen ID. Buzz</a:t>
            </a:r>
          </a:p>
        </p:txBody>
      </p:sp>
      <p:sp>
        <p:nvSpPr>
          <p:cNvPr id="8" name="TextBox 7"/>
          <p:cNvSpPr txBox="1"/>
          <p:nvPr/>
        </p:nvSpPr>
        <p:spPr>
          <a:xfrm>
            <a:off x="640080" y="4800600"/>
            <a:ext cx="5029200" cy="1463040"/>
          </a:xfrm>
          <a:prstGeom prst="rect">
            <a:avLst/>
          </a:prstGeom>
          <a:noFill/>
        </p:spPr>
        <p:txBody>
          <a:bodyPr wrap="square" lIns="0" rIns="0" tIns="0" bIns="0" anchor="t">
            <a:spAutoFit/>
          </a:bodyPr>
          <a:lstStyle/>
          <a:p>
            <a:pPr algn="l">
              <a:spcAft>
                <a:spcPts val="400"/>
              </a:spcAft>
            </a:pPr>
            <a:r>
              <a:rPr sz="1800" b="0" i="0">
                <a:solidFill>
                  <a:srgbClr val="FFFFFF"/>
                </a:solidFill>
                <a:latin typeface="Bahnschrift SemiBold"/>
              </a:rPr>
              <a:t>Muhamad Alif Izzuwan Bin Ibrahim</a:t>
            </a:r>
          </a:p>
          <a:p>
            <a:pPr algn="l">
              <a:spcAft>
                <a:spcPts val="400"/>
              </a:spcAft>
            </a:pPr>
            <a:r>
              <a:rPr sz="1200" b="0" i="0">
                <a:solidFill>
                  <a:srgbClr val="B8C2CC"/>
                </a:solidFill>
                <a:latin typeface="Calibri"/>
              </a:rPr>
              <a:t>Electrical Engineering and Electromobility · Technische Hochschule Ingolstadt</a:t>
            </a:r>
          </a:p>
          <a:p>
            <a:pPr algn="l">
              <a:spcAft>
                <a:spcPts val="400"/>
              </a:spcAft>
            </a:pPr>
            <a:r>
              <a:rPr sz="1200" b="0" i="0">
                <a:solidFill>
                  <a:srgbClr val="B8C2CC"/>
                </a:solidFill>
                <a:latin typeface="Calibri"/>
              </a:rPr>
              <a:t>Examiners: Prof. Dr. Hans-Georg Schweiger · Prof. Dr. Werner Huber</a:t>
            </a:r>
          </a:p>
          <a:p>
            <a:pPr algn="l">
              <a:spcAft>
                <a:spcPts val="400"/>
              </a:spcAft>
            </a:pPr>
            <a:r>
              <a:rPr sz="1200" b="0" i="0">
                <a:solidFill>
                  <a:srgbClr val="B8C2CC"/>
                </a:solidFill>
                <a:latin typeface="Calibri"/>
              </a:rPr>
              <a:t>Supervisor: M.Sc. Markus Gregor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8229600" cy="274320"/>
          </a:xfrm>
          <a:prstGeom prst="rect">
            <a:avLst/>
          </a:prstGeom>
          <a:noFill/>
        </p:spPr>
        <p:txBody>
          <a:bodyPr wrap="square" lIns="0" rIns="0" tIns="0" bIns="0" anchor="t">
            <a:spAutoFit/>
          </a:bodyPr>
          <a:lstStyle/>
          <a:p>
            <a:pPr algn="l">
              <a:spcAft>
                <a:spcPts val="0"/>
              </a:spcAft>
            </a:pPr>
            <a:r>
              <a:rPr sz="1100" b="0" i="0">
                <a:solidFill>
                  <a:srgbClr val="2F7F72"/>
                </a:solidFill>
                <a:latin typeface="Bahnschrift SemiBold"/>
              </a:rPr>
              <a:t>MOTIVATION</a:t>
            </a:r>
          </a:p>
        </p:txBody>
      </p:sp>
      <p:sp>
        <p:nvSpPr>
          <p:cNvPr id="3" name="TextBox 2"/>
          <p:cNvSpPr txBox="1"/>
          <p:nvPr/>
        </p:nvSpPr>
        <p:spPr>
          <a:xfrm>
            <a:off x="594360" y="658368"/>
            <a:ext cx="10972800" cy="1051560"/>
          </a:xfrm>
          <a:prstGeom prst="rect">
            <a:avLst/>
          </a:prstGeom>
          <a:noFill/>
        </p:spPr>
        <p:txBody>
          <a:bodyPr wrap="square" lIns="0" rIns="0" tIns="0" bIns="0" anchor="t">
            <a:spAutoFit/>
          </a:bodyPr>
          <a:lstStyle/>
          <a:p>
            <a:pPr algn="l">
              <a:lnSpc>
                <a:spcPct val="95000"/>
              </a:lnSpc>
              <a:spcAft>
                <a:spcPts val="0"/>
              </a:spcAft>
            </a:pPr>
            <a:r>
              <a:rPr sz="2700" b="0" i="0">
                <a:solidFill>
                  <a:srgbClr val="1B2430"/>
                </a:solidFill>
                <a:latin typeface="Bahnschrift SemiBold"/>
              </a:rPr>
              <a:t>The battery computes a detailed picture of its own state, and almost none of it leaves the car</a:t>
            </a:r>
          </a:p>
        </p:txBody>
      </p:sp>
      <p:sp>
        <p:nvSpPr>
          <p:cNvPr id="4" name="TextBox 3"/>
          <p:cNvSpPr txBox="1"/>
          <p:nvPr/>
        </p:nvSpPr>
        <p:spPr>
          <a:xfrm>
            <a:off x="10972800" y="6419088"/>
            <a:ext cx="621792" cy="228600"/>
          </a:xfrm>
          <a:prstGeom prst="rect">
            <a:avLst/>
          </a:prstGeom>
          <a:noFill/>
        </p:spPr>
        <p:txBody>
          <a:bodyPr wrap="square" lIns="0" rIns="0" tIns="0" bIns="0" anchor="t">
            <a:spAutoFit/>
          </a:bodyPr>
          <a:lstStyle/>
          <a:p>
            <a:pPr algn="r">
              <a:spcAft>
                <a:spcPts val="0"/>
              </a:spcAft>
            </a:pPr>
            <a:r>
              <a:rPr sz="1000" b="0" i="0">
                <a:solidFill>
                  <a:srgbClr val="5F6B7A"/>
                </a:solidFill>
                <a:latin typeface="Calibri"/>
              </a:rPr>
              <a:t>2 / 15</a:t>
            </a:r>
          </a:p>
        </p:txBody>
      </p:sp>
      <p:sp>
        <p:nvSpPr>
          <p:cNvPr id="5" name="TextBox 4"/>
          <p:cNvSpPr txBox="1"/>
          <p:nvPr/>
        </p:nvSpPr>
        <p:spPr>
          <a:xfrm>
            <a:off x="594360" y="6419088"/>
            <a:ext cx="9144000" cy="228600"/>
          </a:xfrm>
          <a:prstGeom prst="rect">
            <a:avLst/>
          </a:prstGeom>
          <a:noFill/>
        </p:spPr>
        <p:txBody>
          <a:bodyPr wrap="square" lIns="0" rIns="0" tIns="0" bIns="0" anchor="t">
            <a:spAutoFit/>
          </a:bodyPr>
          <a:lstStyle/>
          <a:p>
            <a:pPr algn="l">
              <a:spcAft>
                <a:spcPts val="0"/>
              </a:spcAft>
            </a:pPr>
            <a:r>
              <a:rPr sz="1000" b="0" i="0">
                <a:solidFill>
                  <a:srgbClr val="5F6B7A"/>
                </a:solidFill>
                <a:latin typeface="Calibri"/>
              </a:rPr>
              <a:t>Illustration: Volkswagen AG media portal</a:t>
            </a:r>
          </a:p>
        </p:txBody>
      </p:sp>
      <p:pic>
        <p:nvPicPr>
          <p:cNvPr id="6" name="Picture 5" descr="id_buzz_system.jpg"/>
          <p:cNvPicPr>
            <a:picLocks noChangeAspect="1"/>
          </p:cNvPicPr>
          <p:nvPr/>
        </p:nvPicPr>
        <p:blipFill>
          <a:blip r:embed="rId2"/>
          <a:stretch>
            <a:fillRect/>
          </a:stretch>
        </p:blipFill>
        <p:spPr>
          <a:xfrm>
            <a:off x="411480" y="1822399"/>
            <a:ext cx="6949440" cy="4447641"/>
          </a:xfrm>
          <a:prstGeom prst="rect">
            <a:avLst/>
          </a:prstGeom>
        </p:spPr>
      </p:pic>
      <p:cxnSp>
        <p:nvCxnSpPr>
          <p:cNvPr id="7" name="Connector 6"/>
          <p:cNvCxnSpPr/>
          <p:nvPr/>
        </p:nvCxnSpPr>
        <p:spPr>
          <a:xfrm flipV="1">
            <a:off x="4983480" y="2148840"/>
            <a:ext cx="2651760" cy="1463040"/>
          </a:xfrm>
          <a:prstGeom prst="line">
            <a:avLst/>
          </a:prstGeom>
          <a:ln w="15875">
            <a:solidFill>
              <a:srgbClr val="E06A1B"/>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4928616" y="3557016"/>
            <a:ext cx="109728" cy="109728"/>
          </a:xfrm>
          <a:prstGeom prst="ellipse">
            <a:avLst/>
          </a:prstGeom>
          <a:solidFill>
            <a:srgbClr val="E06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26679" y="1920240"/>
            <a:ext cx="3931920" cy="914400"/>
          </a:xfrm>
          <a:prstGeom prst="rect">
            <a:avLst/>
          </a:prstGeom>
          <a:noFill/>
        </p:spPr>
        <p:txBody>
          <a:bodyPr wrap="square" lIns="0" rIns="0" tIns="0" bIns="0" anchor="t">
            <a:spAutoFit/>
          </a:bodyPr>
          <a:lstStyle/>
          <a:p>
            <a:pPr algn="l">
              <a:spcAft>
                <a:spcPts val="200"/>
              </a:spcAft>
            </a:pPr>
            <a:r>
              <a:rPr sz="1700" b="1" i="0">
                <a:solidFill>
                  <a:srgbClr val="E06A1B"/>
                </a:solidFill>
                <a:latin typeface="Calibri"/>
              </a:rPr>
              <a:t>Traction battery</a:t>
            </a:r>
          </a:p>
          <a:p>
            <a:pPr algn="l">
              <a:spcAft>
                <a:spcPts val="200"/>
              </a:spcAft>
            </a:pPr>
            <a:r>
              <a:rPr sz="1500" b="0" i="0">
                <a:solidFill>
                  <a:srgbClr val="1B2430"/>
                </a:solidFill>
                <a:latin typeface="Calibri"/>
              </a:rPr>
              <a:t>77 kWh net · ≈ 350 V · 288 NMC cells in 12 modules</a:t>
            </a:r>
          </a:p>
        </p:txBody>
      </p:sp>
      <p:cxnSp>
        <p:nvCxnSpPr>
          <p:cNvPr id="10" name="Connector 9"/>
          <p:cNvCxnSpPr/>
          <p:nvPr/>
        </p:nvCxnSpPr>
        <p:spPr>
          <a:xfrm flipV="1">
            <a:off x="4754880" y="3611880"/>
            <a:ext cx="2880360" cy="1188720"/>
          </a:xfrm>
          <a:prstGeom prst="line">
            <a:avLst/>
          </a:prstGeom>
          <a:ln w="15875">
            <a:solidFill>
              <a:srgbClr val="E06A1B"/>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4700016" y="4745736"/>
            <a:ext cx="109728" cy="109728"/>
          </a:xfrm>
          <a:prstGeom prst="ellipse">
            <a:avLst/>
          </a:prstGeom>
          <a:solidFill>
            <a:srgbClr val="E06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26679" y="3383280"/>
            <a:ext cx="3931920" cy="1188720"/>
          </a:xfrm>
          <a:prstGeom prst="rect">
            <a:avLst/>
          </a:prstGeom>
          <a:noFill/>
        </p:spPr>
        <p:txBody>
          <a:bodyPr wrap="square" lIns="0" rIns="0" tIns="0" bIns="0" anchor="t">
            <a:spAutoFit/>
          </a:bodyPr>
          <a:lstStyle/>
          <a:p>
            <a:pPr algn="l">
              <a:lnSpc>
                <a:spcPct val="95000"/>
              </a:lnSpc>
              <a:spcAft>
                <a:spcPts val="200"/>
              </a:spcAft>
            </a:pPr>
            <a:r>
              <a:rPr sz="1700" b="1" i="0">
                <a:solidFill>
                  <a:srgbClr val="E06A1B"/>
                </a:solidFill>
                <a:latin typeface="Calibri"/>
              </a:rPr>
              <a:t>Battery-management system (BMS)</a:t>
            </a:r>
          </a:p>
          <a:p>
            <a:pPr algn="l">
              <a:lnSpc>
                <a:spcPct val="95000"/>
              </a:lnSpc>
              <a:spcAft>
                <a:spcPts val="200"/>
              </a:spcAft>
            </a:pPr>
            <a:r>
              <a:rPr sz="1500" b="0" i="0">
                <a:solidFill>
                  <a:srgbClr val="1B2430"/>
                </a:solidFill>
                <a:latin typeface="Calibri"/>
              </a:rPr>
              <a:t>measures every cell voltage and temperature, estimates the state of charge, sets the power limits</a:t>
            </a:r>
          </a:p>
        </p:txBody>
      </p:sp>
      <p:sp>
        <p:nvSpPr>
          <p:cNvPr id="13" name="Rectangle 12"/>
          <p:cNvSpPr/>
          <p:nvPr/>
        </p:nvSpPr>
        <p:spPr>
          <a:xfrm>
            <a:off x="7726679" y="4892040"/>
            <a:ext cx="3886200" cy="1051560"/>
          </a:xfrm>
          <a:prstGeom prst="rect">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09560" y="5001768"/>
            <a:ext cx="3566160" cy="1051560"/>
          </a:xfrm>
          <a:prstGeom prst="rect">
            <a:avLst/>
          </a:prstGeom>
          <a:noFill/>
        </p:spPr>
        <p:txBody>
          <a:bodyPr wrap="square" lIns="0" rIns="0" tIns="0" bIns="0" anchor="t">
            <a:spAutoFit/>
          </a:bodyPr>
          <a:lstStyle/>
          <a:p>
            <a:pPr algn="l">
              <a:lnSpc>
                <a:spcPct val="95000"/>
              </a:lnSpc>
              <a:spcAft>
                <a:spcPts val="200"/>
              </a:spcAft>
            </a:pPr>
            <a:r>
              <a:rPr sz="1400" b="1" i="0">
                <a:solidFill>
                  <a:srgbClr val="1B2430"/>
                </a:solidFill>
                <a:latin typeface="Calibri"/>
              </a:rPr>
              <a:t>Who needs that data outside the car</a:t>
            </a:r>
          </a:p>
          <a:p>
            <a:pPr algn="l">
              <a:lnSpc>
                <a:spcPct val="95000"/>
              </a:lnSpc>
              <a:spcAft>
                <a:spcPts val="200"/>
              </a:spcAft>
            </a:pPr>
            <a:r>
              <a:rPr sz="1400" b="0" i="0">
                <a:solidFill>
                  <a:srgbClr val="1B2430"/>
                </a:solidFill>
                <a:latin typeface="Calibri"/>
              </a:rPr>
              <a:t>used-EV assessment · fleet monitoring · ageing research · post-crash battery inspection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8229600" cy="274320"/>
          </a:xfrm>
          <a:prstGeom prst="rect">
            <a:avLst/>
          </a:prstGeom>
          <a:noFill/>
        </p:spPr>
        <p:txBody>
          <a:bodyPr wrap="square" lIns="0" rIns="0" tIns="0" bIns="0" anchor="t">
            <a:spAutoFit/>
          </a:bodyPr>
          <a:lstStyle/>
          <a:p>
            <a:pPr algn="l">
              <a:spcAft>
                <a:spcPts val="0"/>
              </a:spcAft>
            </a:pPr>
            <a:r>
              <a:rPr sz="1100" b="0" i="0">
                <a:solidFill>
                  <a:srgbClr val="2F7F72"/>
                </a:solidFill>
                <a:latin typeface="Bahnschrift SemiBold"/>
              </a:rPr>
              <a:t>BACKGROUND · CAN BUS</a:t>
            </a:r>
          </a:p>
        </p:txBody>
      </p:sp>
      <p:sp>
        <p:nvSpPr>
          <p:cNvPr id="3" name="TextBox 2"/>
          <p:cNvSpPr txBox="1"/>
          <p:nvPr/>
        </p:nvSpPr>
        <p:spPr>
          <a:xfrm>
            <a:off x="594360" y="658368"/>
            <a:ext cx="10972800" cy="1051560"/>
          </a:xfrm>
          <a:prstGeom prst="rect">
            <a:avLst/>
          </a:prstGeom>
          <a:noFill/>
        </p:spPr>
        <p:txBody>
          <a:bodyPr wrap="square" lIns="0" rIns="0" tIns="0" bIns="0" anchor="t">
            <a:spAutoFit/>
          </a:bodyPr>
          <a:lstStyle/>
          <a:p>
            <a:pPr algn="l">
              <a:lnSpc>
                <a:spcPct val="95000"/>
              </a:lnSpc>
              <a:spcAft>
                <a:spcPts val="0"/>
              </a:spcAft>
            </a:pPr>
            <a:r>
              <a:rPr sz="2700" b="0" i="0">
                <a:solidFill>
                  <a:srgbClr val="1B2430"/>
                </a:solidFill>
                <a:latin typeface="Bahnschrift SemiBold"/>
              </a:rPr>
              <a:t>Inside the car, control units share one two-wire line, and every message is only a number plus up to 8 bytes</a:t>
            </a:r>
          </a:p>
        </p:txBody>
      </p:sp>
      <p:sp>
        <p:nvSpPr>
          <p:cNvPr id="4" name="TextBox 3"/>
          <p:cNvSpPr txBox="1"/>
          <p:nvPr/>
        </p:nvSpPr>
        <p:spPr>
          <a:xfrm>
            <a:off x="10972800" y="6419088"/>
            <a:ext cx="621792" cy="228600"/>
          </a:xfrm>
          <a:prstGeom prst="rect">
            <a:avLst/>
          </a:prstGeom>
          <a:noFill/>
        </p:spPr>
        <p:txBody>
          <a:bodyPr wrap="square" lIns="0" rIns="0" tIns="0" bIns="0" anchor="t">
            <a:spAutoFit/>
          </a:bodyPr>
          <a:lstStyle/>
          <a:p>
            <a:pPr algn="r">
              <a:spcAft>
                <a:spcPts val="0"/>
              </a:spcAft>
            </a:pPr>
            <a:r>
              <a:rPr sz="1000" b="0" i="0">
                <a:solidFill>
                  <a:srgbClr val="5F6B7A"/>
                </a:solidFill>
                <a:latin typeface="Calibri"/>
              </a:rPr>
              <a:t>3 / 15</a:t>
            </a:r>
          </a:p>
        </p:txBody>
      </p:sp>
      <p:cxnSp>
        <p:nvCxnSpPr>
          <p:cNvPr id="5" name="Connector 4"/>
          <p:cNvCxnSpPr/>
          <p:nvPr/>
        </p:nvCxnSpPr>
        <p:spPr>
          <a:xfrm>
            <a:off x="822960" y="2514600"/>
            <a:ext cx="6583680" cy="0"/>
          </a:xfrm>
          <a:prstGeom prst="line">
            <a:avLst/>
          </a:prstGeom>
          <a:ln w="31750">
            <a:solidFill>
              <a:srgbClr val="1B2430"/>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822960" y="2660904"/>
            <a:ext cx="6583680" cy="0"/>
          </a:xfrm>
          <a:prstGeom prst="line">
            <a:avLst/>
          </a:prstGeom>
          <a:ln w="31750">
            <a:solidFill>
              <a:srgbClr val="5F6B7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498079" y="2386584"/>
            <a:ext cx="1280160" cy="457200"/>
          </a:xfrm>
          <a:prstGeom prst="rect">
            <a:avLst/>
          </a:prstGeom>
          <a:noFill/>
        </p:spPr>
        <p:txBody>
          <a:bodyPr wrap="square" lIns="0" rIns="0" tIns="0" bIns="0" anchor="t">
            <a:spAutoFit/>
          </a:bodyPr>
          <a:lstStyle/>
          <a:p>
            <a:pPr algn="l">
              <a:lnSpc>
                <a:spcPct val="90000"/>
              </a:lnSpc>
              <a:spcAft>
                <a:spcPts val="0"/>
              </a:spcAft>
            </a:pPr>
            <a:r>
              <a:rPr sz="1100" b="0" i="0">
                <a:solidFill>
                  <a:srgbClr val="1B2430"/>
                </a:solidFill>
                <a:latin typeface="Calibri"/>
              </a:rPr>
              <a:t>CAN-H</a:t>
            </a:r>
          </a:p>
          <a:p>
            <a:pPr algn="l">
              <a:lnSpc>
                <a:spcPct val="90000"/>
              </a:lnSpc>
              <a:spcAft>
                <a:spcPts val="0"/>
              </a:spcAft>
            </a:pPr>
            <a:r>
              <a:rPr sz="1100" b="0" i="0">
                <a:solidFill>
                  <a:srgbClr val="5F6B7A"/>
                </a:solidFill>
                <a:latin typeface="Calibri"/>
              </a:rPr>
              <a:t>CAN-L</a:t>
            </a:r>
          </a:p>
        </p:txBody>
      </p:sp>
      <p:cxnSp>
        <p:nvCxnSpPr>
          <p:cNvPr id="8" name="Connector 7"/>
          <p:cNvCxnSpPr/>
          <p:nvPr/>
        </p:nvCxnSpPr>
        <p:spPr>
          <a:xfrm>
            <a:off x="1600200" y="2660904"/>
            <a:ext cx="0" cy="448056"/>
          </a:xfrm>
          <a:prstGeom prst="line">
            <a:avLst/>
          </a:prstGeom>
          <a:ln w="15875">
            <a:solidFill>
              <a:srgbClr val="5F6B7A"/>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1051560" y="3108960"/>
            <a:ext cx="1097280" cy="566928"/>
          </a:xfrm>
          <a:prstGeom prst="rect">
            <a:avLst/>
          </a:prstGeom>
          <a:solidFill>
            <a:srgbClr val="FFFFFF"/>
          </a:solidFill>
          <a:ln w="22225">
            <a:solidFill>
              <a:srgbClr val="E06A1B"/>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300" b="1">
                <a:solidFill>
                  <a:srgbClr val="E06A1B"/>
                </a:solidFill>
                <a:latin typeface="Calibri"/>
              </a:rPr>
              <a:t>BMS</a:t>
            </a:r>
          </a:p>
        </p:txBody>
      </p:sp>
      <p:cxnSp>
        <p:nvCxnSpPr>
          <p:cNvPr id="10" name="Connector 9"/>
          <p:cNvCxnSpPr/>
          <p:nvPr/>
        </p:nvCxnSpPr>
        <p:spPr>
          <a:xfrm>
            <a:off x="3246120" y="2660904"/>
            <a:ext cx="0" cy="448056"/>
          </a:xfrm>
          <a:prstGeom prst="line">
            <a:avLst/>
          </a:prstGeom>
          <a:ln w="15875">
            <a:solidFill>
              <a:srgbClr val="5F6B7A"/>
            </a:solidFill>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2697480" y="3108960"/>
            <a:ext cx="1097280" cy="566928"/>
          </a:xfrm>
          <a:prstGeom prst="rect">
            <a:avLst/>
          </a:prstGeom>
          <a:solidFill>
            <a:srgbClr val="FFFFFF"/>
          </a:solidFill>
          <a:ln w="22225">
            <a:solidFill>
              <a:srgbClr val="1B243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300" b="0">
                <a:solidFill>
                  <a:srgbClr val="1B2430"/>
                </a:solidFill>
                <a:latin typeface="Calibri"/>
              </a:rPr>
              <a:t>Drive unit</a:t>
            </a:r>
          </a:p>
        </p:txBody>
      </p:sp>
      <p:cxnSp>
        <p:nvCxnSpPr>
          <p:cNvPr id="12" name="Connector 11"/>
          <p:cNvCxnSpPr/>
          <p:nvPr/>
        </p:nvCxnSpPr>
        <p:spPr>
          <a:xfrm>
            <a:off x="4892040" y="2660904"/>
            <a:ext cx="0" cy="448056"/>
          </a:xfrm>
          <a:prstGeom prst="line">
            <a:avLst/>
          </a:prstGeom>
          <a:ln w="15875">
            <a:solidFill>
              <a:srgbClr val="5F6B7A"/>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4343400" y="3108960"/>
            <a:ext cx="1097280" cy="566928"/>
          </a:xfrm>
          <a:prstGeom prst="rect">
            <a:avLst/>
          </a:prstGeom>
          <a:solidFill>
            <a:srgbClr val="FFFFFF"/>
          </a:solidFill>
          <a:ln w="22225">
            <a:solidFill>
              <a:srgbClr val="1B243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300" b="0">
                <a:solidFill>
                  <a:srgbClr val="1B2430"/>
                </a:solidFill>
                <a:latin typeface="Calibri"/>
              </a:rPr>
              <a:t>Climate</a:t>
            </a:r>
          </a:p>
        </p:txBody>
      </p:sp>
      <p:cxnSp>
        <p:nvCxnSpPr>
          <p:cNvPr id="14" name="Connector 13"/>
          <p:cNvCxnSpPr/>
          <p:nvPr/>
        </p:nvCxnSpPr>
        <p:spPr>
          <a:xfrm>
            <a:off x="6537960" y="2660904"/>
            <a:ext cx="0" cy="448056"/>
          </a:xfrm>
          <a:prstGeom prst="line">
            <a:avLst/>
          </a:prstGeom>
          <a:ln w="15875">
            <a:solidFill>
              <a:srgbClr val="5F6B7A"/>
            </a:solidFill>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5989320" y="3108960"/>
            <a:ext cx="1097280" cy="566928"/>
          </a:xfrm>
          <a:prstGeom prst="rect">
            <a:avLst/>
          </a:prstGeom>
          <a:solidFill>
            <a:srgbClr val="FFFFFF"/>
          </a:solidFill>
          <a:ln w="22225">
            <a:solidFill>
              <a:srgbClr val="1B243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300" b="0">
                <a:solidFill>
                  <a:srgbClr val="1B2430"/>
                </a:solidFill>
                <a:latin typeface="Calibri"/>
              </a:rPr>
              <a:t>Gateway</a:t>
            </a:r>
          </a:p>
        </p:txBody>
      </p:sp>
      <p:sp>
        <p:nvSpPr>
          <p:cNvPr id="16" name="TextBox 15"/>
          <p:cNvSpPr txBox="1"/>
          <p:nvPr/>
        </p:nvSpPr>
        <p:spPr>
          <a:xfrm>
            <a:off x="822960" y="4160520"/>
            <a:ext cx="5486400" cy="274320"/>
          </a:xfrm>
          <a:prstGeom prst="rect">
            <a:avLst/>
          </a:prstGeom>
          <a:noFill/>
        </p:spPr>
        <p:txBody>
          <a:bodyPr wrap="square" lIns="0" rIns="0" tIns="0" bIns="0" anchor="t">
            <a:spAutoFit/>
          </a:bodyPr>
          <a:lstStyle/>
          <a:p>
            <a:pPr algn="l">
              <a:spcAft>
                <a:spcPts val="0"/>
              </a:spcAft>
            </a:pPr>
            <a:r>
              <a:rPr sz="1300" b="0" i="0">
                <a:solidFill>
                  <a:srgbClr val="5F6B7A"/>
                </a:solidFill>
                <a:latin typeface="Calibri"/>
              </a:rPr>
              <a:t>One frame on the bus, as the logger records it</a:t>
            </a:r>
          </a:p>
        </p:txBody>
      </p:sp>
      <p:sp>
        <p:nvSpPr>
          <p:cNvPr id="17" name="Rectangle 16"/>
          <p:cNvSpPr/>
          <p:nvPr/>
        </p:nvSpPr>
        <p:spPr>
          <a:xfrm>
            <a:off x="822960" y="4526280"/>
            <a:ext cx="960120" cy="566928"/>
          </a:xfrm>
          <a:prstGeom prst="rect">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2000" b="1">
                <a:solidFill>
                  <a:srgbClr val="FFFFFF"/>
                </a:solidFill>
                <a:latin typeface="Consolas"/>
              </a:rPr>
              <a:t>065</a:t>
            </a:r>
          </a:p>
        </p:txBody>
      </p:sp>
      <p:sp>
        <p:nvSpPr>
          <p:cNvPr id="18" name="TextBox 17"/>
          <p:cNvSpPr txBox="1"/>
          <p:nvPr/>
        </p:nvSpPr>
        <p:spPr>
          <a:xfrm>
            <a:off x="640080" y="5184648"/>
            <a:ext cx="1325880" cy="822960"/>
          </a:xfrm>
          <a:prstGeom prst="rect">
            <a:avLst/>
          </a:prstGeom>
          <a:noFill/>
        </p:spPr>
        <p:txBody>
          <a:bodyPr wrap="square" lIns="0" rIns="0" tIns="0" bIns="0" anchor="t">
            <a:spAutoFit/>
          </a:bodyPr>
          <a:lstStyle/>
          <a:p>
            <a:pPr algn="ctr">
              <a:lnSpc>
                <a:spcPct val="95000"/>
              </a:lnSpc>
              <a:spcAft>
                <a:spcPts val="0"/>
              </a:spcAft>
            </a:pPr>
            <a:r>
              <a:rPr sz="1250" b="0" i="0">
                <a:solidFill>
                  <a:srgbClr val="5F6B7A"/>
                </a:solidFill>
                <a:latin typeface="Calibri"/>
              </a:rPr>
              <a:t>identifier:
what it is</a:t>
            </a:r>
          </a:p>
        </p:txBody>
      </p:sp>
      <p:sp>
        <p:nvSpPr>
          <p:cNvPr id="19" name="Rectangle 18"/>
          <p:cNvSpPr/>
          <p:nvPr/>
        </p:nvSpPr>
        <p:spPr>
          <a:xfrm>
            <a:off x="1993391" y="4526280"/>
            <a:ext cx="4855464" cy="566928"/>
          </a:xfrm>
          <a:prstGeom prst="rect">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2000" b="1">
                <a:solidFill>
                  <a:srgbClr val="1B2430"/>
                </a:solidFill>
                <a:latin typeface="Consolas"/>
              </a:rPr>
              <a:t>3E 4A 00 52 1C 07 9B 10</a:t>
            </a:r>
          </a:p>
        </p:txBody>
      </p:sp>
      <p:sp>
        <p:nvSpPr>
          <p:cNvPr id="20" name="TextBox 19"/>
          <p:cNvSpPr txBox="1"/>
          <p:nvPr/>
        </p:nvSpPr>
        <p:spPr>
          <a:xfrm>
            <a:off x="1920239" y="5184648"/>
            <a:ext cx="5001768" cy="822960"/>
          </a:xfrm>
          <a:prstGeom prst="rect">
            <a:avLst/>
          </a:prstGeom>
          <a:noFill/>
        </p:spPr>
        <p:txBody>
          <a:bodyPr wrap="square" lIns="0" rIns="0" tIns="0" bIns="0" anchor="t">
            <a:spAutoFit/>
          </a:bodyPr>
          <a:lstStyle/>
          <a:p>
            <a:pPr algn="ctr">
              <a:lnSpc>
                <a:spcPct val="95000"/>
              </a:lnSpc>
              <a:spcAft>
                <a:spcPts val="0"/>
              </a:spcAft>
            </a:pPr>
            <a:r>
              <a:rPr sz="1250" b="0" i="0">
                <a:solidFill>
                  <a:srgbClr val="5F6B7A"/>
                </a:solidFill>
                <a:latin typeface="Calibri"/>
              </a:rPr>
              <a:t>data: up to 8 bytes
no units, no names</a:t>
            </a:r>
          </a:p>
        </p:txBody>
      </p:sp>
      <p:sp>
        <p:nvSpPr>
          <p:cNvPr id="21" name="Rectangle 20"/>
          <p:cNvSpPr/>
          <p:nvPr/>
        </p:nvSpPr>
        <p:spPr>
          <a:xfrm>
            <a:off x="8915400" y="1783080"/>
            <a:ext cx="2697480" cy="3794760"/>
          </a:xfrm>
          <a:prstGeom prst="rect">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98280" y="1965960"/>
            <a:ext cx="2377440" cy="4023360"/>
          </a:xfrm>
          <a:prstGeom prst="rect">
            <a:avLst/>
          </a:prstGeom>
          <a:noFill/>
        </p:spPr>
        <p:txBody>
          <a:bodyPr wrap="square" lIns="0" rIns="0" tIns="0" bIns="0" anchor="t">
            <a:spAutoFit/>
          </a:bodyPr>
          <a:lstStyle/>
          <a:p>
            <a:pPr algn="l">
              <a:lnSpc>
                <a:spcPct val="98000"/>
              </a:lnSpc>
              <a:spcAft>
                <a:spcPts val="1000"/>
              </a:spcAft>
            </a:pPr>
            <a:r>
              <a:rPr sz="1700" b="1" i="0">
                <a:solidFill>
                  <a:srgbClr val="1B2430"/>
                </a:solidFill>
                <a:latin typeface="Calibri"/>
              </a:rPr>
              <a:t>Think of a radio channel</a:t>
            </a:r>
          </a:p>
          <a:p>
            <a:pPr algn="l">
              <a:lnSpc>
                <a:spcPct val="98000"/>
              </a:lnSpc>
              <a:spcAft>
                <a:spcPts val="1000"/>
              </a:spcAft>
            </a:pPr>
            <a:r>
              <a:rPr sz="1500" b="0" i="0">
                <a:solidFill>
                  <a:srgbClr val="1B2430"/>
                </a:solidFill>
                <a:latin typeface="Calibri"/>
              </a:rPr>
              <a:t>Every unit hears every message. A message carries a topic number, not an address.</a:t>
            </a:r>
          </a:p>
          <a:p>
            <a:pPr algn="l">
              <a:lnSpc>
                <a:spcPct val="98000"/>
              </a:lnSpc>
              <a:spcAft>
                <a:spcPts val="1000"/>
              </a:spcAft>
            </a:pPr>
            <a:r>
              <a:rPr sz="1700" b="1" i="0">
                <a:solidFill>
                  <a:srgbClr val="1B2430"/>
                </a:solidFill>
                <a:latin typeface="Calibri"/>
              </a:rPr>
              <a:t>The bytes are visible.</a:t>
            </a:r>
          </a:p>
          <a:p>
            <a:pPr algn="l">
              <a:lnSpc>
                <a:spcPct val="98000"/>
              </a:lnSpc>
              <a:spcAft>
                <a:spcPts val="1000"/>
              </a:spcAft>
            </a:pPr>
            <a:r>
              <a:rPr sz="1500" b="0" i="0">
                <a:solidFill>
                  <a:srgbClr val="1B2430"/>
                </a:solidFill>
                <a:latin typeface="Calibri"/>
              </a:rPr>
              <a:t>Their meaning is not: the dictionary that maps bytes to volts and degrees belongs to the manufacturer.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8229600" cy="274320"/>
          </a:xfrm>
          <a:prstGeom prst="rect">
            <a:avLst/>
          </a:prstGeom>
          <a:noFill/>
        </p:spPr>
        <p:txBody>
          <a:bodyPr wrap="square" lIns="0" rIns="0" tIns="0" bIns="0" anchor="t">
            <a:spAutoFit/>
          </a:bodyPr>
          <a:lstStyle/>
          <a:p>
            <a:pPr algn="l">
              <a:spcAft>
                <a:spcPts val="0"/>
              </a:spcAft>
            </a:pPr>
            <a:r>
              <a:rPr sz="1100" b="0" i="0">
                <a:solidFill>
                  <a:srgbClr val="2F7F72"/>
                </a:solidFill>
                <a:latin typeface="Bahnschrift SemiBold"/>
              </a:rPr>
              <a:t>RESEARCH QUESTION 1 · WHY LISTENING FAILS</a:t>
            </a:r>
          </a:p>
        </p:txBody>
      </p:sp>
      <p:sp>
        <p:nvSpPr>
          <p:cNvPr id="3" name="TextBox 2"/>
          <p:cNvSpPr txBox="1"/>
          <p:nvPr/>
        </p:nvSpPr>
        <p:spPr>
          <a:xfrm>
            <a:off x="594360" y="658368"/>
            <a:ext cx="10972800" cy="1051560"/>
          </a:xfrm>
          <a:prstGeom prst="rect">
            <a:avLst/>
          </a:prstGeom>
          <a:noFill/>
        </p:spPr>
        <p:txBody>
          <a:bodyPr wrap="square" lIns="0" rIns="0" tIns="0" bIns="0" anchor="t">
            <a:spAutoFit/>
          </a:bodyPr>
          <a:lstStyle/>
          <a:p>
            <a:pPr algn="l">
              <a:lnSpc>
                <a:spcPct val="95000"/>
              </a:lnSpc>
              <a:spcAft>
                <a:spcPts val="0"/>
              </a:spcAft>
            </a:pPr>
            <a:r>
              <a:rPr sz="2700" b="0" i="0">
                <a:solidFill>
                  <a:srgbClr val="1B2430"/>
                </a:solidFill>
                <a:latin typeface="Bahnschrift SemiBold"/>
              </a:rPr>
              <a:t>On the MEB platform a gateway keeps the battery's bus away from the diagnostic socket</a:t>
            </a:r>
          </a:p>
        </p:txBody>
      </p:sp>
      <p:sp>
        <p:nvSpPr>
          <p:cNvPr id="4" name="TextBox 3"/>
          <p:cNvSpPr txBox="1"/>
          <p:nvPr/>
        </p:nvSpPr>
        <p:spPr>
          <a:xfrm>
            <a:off x="10972800" y="6419088"/>
            <a:ext cx="621792" cy="228600"/>
          </a:xfrm>
          <a:prstGeom prst="rect">
            <a:avLst/>
          </a:prstGeom>
          <a:noFill/>
        </p:spPr>
        <p:txBody>
          <a:bodyPr wrap="square" lIns="0" rIns="0" tIns="0" bIns="0" anchor="t">
            <a:spAutoFit/>
          </a:bodyPr>
          <a:lstStyle/>
          <a:p>
            <a:pPr algn="r">
              <a:spcAft>
                <a:spcPts val="0"/>
              </a:spcAft>
            </a:pPr>
            <a:r>
              <a:rPr sz="1000" b="0" i="0">
                <a:solidFill>
                  <a:srgbClr val="5F6B7A"/>
                </a:solidFill>
                <a:latin typeface="Calibri"/>
              </a:rPr>
              <a:t>4 / 15</a:t>
            </a:r>
          </a:p>
        </p:txBody>
      </p:sp>
      <p:sp>
        <p:nvSpPr>
          <p:cNvPr id="5" name="Rectangle 4"/>
          <p:cNvSpPr/>
          <p:nvPr/>
        </p:nvSpPr>
        <p:spPr>
          <a:xfrm>
            <a:off x="594360" y="1828800"/>
            <a:ext cx="5760720" cy="4251960"/>
          </a:xfrm>
          <a:prstGeom prst="rect">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938528"/>
            <a:ext cx="3657600" cy="274320"/>
          </a:xfrm>
          <a:prstGeom prst="rect">
            <a:avLst/>
          </a:prstGeom>
          <a:noFill/>
        </p:spPr>
        <p:txBody>
          <a:bodyPr wrap="square" lIns="0" rIns="0" tIns="0" bIns="0" anchor="t">
            <a:spAutoFit/>
          </a:bodyPr>
          <a:lstStyle/>
          <a:p>
            <a:pPr algn="l">
              <a:spcAft>
                <a:spcPts val="0"/>
              </a:spcAft>
            </a:pPr>
            <a:r>
              <a:rPr sz="1100" b="0" i="0">
                <a:solidFill>
                  <a:srgbClr val="5F6B7A"/>
                </a:solidFill>
                <a:latin typeface="Bahnschrift SemiBold"/>
              </a:rPr>
              <a:t>INSIDE THE CAR · PRIVATE BUSES</a:t>
            </a:r>
          </a:p>
        </p:txBody>
      </p:sp>
      <p:cxnSp>
        <p:nvCxnSpPr>
          <p:cNvPr id="7" name="Connector 6"/>
          <p:cNvCxnSpPr/>
          <p:nvPr/>
        </p:nvCxnSpPr>
        <p:spPr>
          <a:xfrm>
            <a:off x="868680" y="2788920"/>
            <a:ext cx="5486400" cy="0"/>
          </a:xfrm>
          <a:prstGeom prst="line">
            <a:avLst/>
          </a:prstGeom>
          <a:ln w="31750">
            <a:solidFill>
              <a:srgbClr val="E06A1B"/>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868680" y="2404872"/>
            <a:ext cx="3657600" cy="274320"/>
          </a:xfrm>
          <a:prstGeom prst="rect">
            <a:avLst/>
          </a:prstGeom>
          <a:noFill/>
        </p:spPr>
        <p:txBody>
          <a:bodyPr wrap="square" lIns="0" rIns="0" tIns="0" bIns="0" anchor="t">
            <a:spAutoFit/>
          </a:bodyPr>
          <a:lstStyle/>
          <a:p>
            <a:pPr algn="l">
              <a:spcAft>
                <a:spcPts val="0"/>
              </a:spcAft>
            </a:pPr>
            <a:r>
              <a:rPr sz="1200" b="0" i="0">
                <a:solidFill>
                  <a:srgbClr val="E06A1B"/>
                </a:solidFill>
                <a:latin typeface="Calibri"/>
              </a:rPr>
              <a:t>battery / powertrain CAN</a:t>
            </a:r>
          </a:p>
        </p:txBody>
      </p:sp>
      <p:cxnSp>
        <p:nvCxnSpPr>
          <p:cNvPr id="9" name="Connector 8"/>
          <p:cNvCxnSpPr/>
          <p:nvPr/>
        </p:nvCxnSpPr>
        <p:spPr>
          <a:xfrm>
            <a:off x="1600200" y="2788920"/>
            <a:ext cx="0" cy="320040"/>
          </a:xfrm>
          <a:prstGeom prst="line">
            <a:avLst/>
          </a:prstGeom>
          <a:ln w="12700">
            <a:solidFill>
              <a:srgbClr val="5F6B7A"/>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960120" y="3108960"/>
            <a:ext cx="1325880" cy="502920"/>
          </a:xfrm>
          <a:prstGeom prst="rect">
            <a:avLst/>
          </a:prstGeom>
          <a:solidFill>
            <a:srgbClr val="FFFFFF"/>
          </a:solidFill>
          <a:ln w="19050">
            <a:solidFill>
              <a:srgbClr val="E06A1B"/>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200" b="0">
                <a:solidFill>
                  <a:srgbClr val="E06A1B"/>
                </a:solidFill>
                <a:latin typeface="Calibri"/>
              </a:rPr>
              <a:t>BMS</a:t>
            </a:r>
          </a:p>
        </p:txBody>
      </p:sp>
      <p:cxnSp>
        <p:nvCxnSpPr>
          <p:cNvPr id="11" name="Connector 10"/>
          <p:cNvCxnSpPr/>
          <p:nvPr/>
        </p:nvCxnSpPr>
        <p:spPr>
          <a:xfrm>
            <a:off x="3200400" y="2788920"/>
            <a:ext cx="0" cy="320040"/>
          </a:xfrm>
          <a:prstGeom prst="line">
            <a:avLst/>
          </a:prstGeom>
          <a:ln w="12700">
            <a:solidFill>
              <a:srgbClr val="5F6B7A"/>
            </a:solidFill>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2560320" y="3108960"/>
            <a:ext cx="1325880" cy="502920"/>
          </a:xfrm>
          <a:prstGeom prst="rect">
            <a:avLst/>
          </a:prstGeom>
          <a:solidFill>
            <a:srgbClr val="FFFFFF"/>
          </a:solidFill>
          <a:ln w="19050">
            <a:solidFill>
              <a:srgbClr val="E06A1B"/>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200" b="0">
                <a:solidFill>
                  <a:srgbClr val="E06A1B"/>
                </a:solidFill>
                <a:latin typeface="Calibri"/>
              </a:rPr>
              <a:t>cell supervision</a:t>
            </a:r>
          </a:p>
        </p:txBody>
      </p:sp>
      <p:cxnSp>
        <p:nvCxnSpPr>
          <p:cNvPr id="13" name="Connector 12"/>
          <p:cNvCxnSpPr/>
          <p:nvPr/>
        </p:nvCxnSpPr>
        <p:spPr>
          <a:xfrm>
            <a:off x="4800600" y="2788920"/>
            <a:ext cx="0" cy="320040"/>
          </a:xfrm>
          <a:prstGeom prst="line">
            <a:avLst/>
          </a:prstGeom>
          <a:ln w="12700">
            <a:solidFill>
              <a:srgbClr val="5F6B7A"/>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4160520" y="3108960"/>
            <a:ext cx="1325880" cy="502920"/>
          </a:xfrm>
          <a:prstGeom prst="rect">
            <a:avLst/>
          </a:prstGeom>
          <a:solidFill>
            <a:srgbClr val="FFFFFF"/>
          </a:solidFill>
          <a:ln w="19050">
            <a:solidFill>
              <a:srgbClr val="1B243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200" b="0">
                <a:solidFill>
                  <a:srgbClr val="1B2430"/>
                </a:solidFill>
                <a:latin typeface="Calibri"/>
              </a:rPr>
              <a:t>drive unit</a:t>
            </a:r>
          </a:p>
        </p:txBody>
      </p:sp>
      <p:cxnSp>
        <p:nvCxnSpPr>
          <p:cNvPr id="15" name="Connector 14"/>
          <p:cNvCxnSpPr/>
          <p:nvPr/>
        </p:nvCxnSpPr>
        <p:spPr>
          <a:xfrm>
            <a:off x="868680" y="4480560"/>
            <a:ext cx="5486400" cy="0"/>
          </a:xfrm>
          <a:prstGeom prst="line">
            <a:avLst/>
          </a:prstGeom>
          <a:ln w="31750">
            <a:solidFill>
              <a:srgbClr val="5F6B7A"/>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68680" y="4096512"/>
            <a:ext cx="3657600" cy="274320"/>
          </a:xfrm>
          <a:prstGeom prst="rect">
            <a:avLst/>
          </a:prstGeom>
          <a:noFill/>
        </p:spPr>
        <p:txBody>
          <a:bodyPr wrap="square" lIns="0" rIns="0" tIns="0" bIns="0" anchor="t">
            <a:spAutoFit/>
          </a:bodyPr>
          <a:lstStyle/>
          <a:p>
            <a:pPr algn="l">
              <a:spcAft>
                <a:spcPts val="0"/>
              </a:spcAft>
            </a:pPr>
            <a:r>
              <a:rPr sz="1200" b="0" i="0">
                <a:solidFill>
                  <a:srgbClr val="5F6B7A"/>
                </a:solidFill>
                <a:latin typeface="Calibri"/>
              </a:rPr>
              <a:t>comfort / chassis CAN</a:t>
            </a:r>
          </a:p>
        </p:txBody>
      </p:sp>
      <p:cxnSp>
        <p:nvCxnSpPr>
          <p:cNvPr id="17" name="Connector 16"/>
          <p:cNvCxnSpPr/>
          <p:nvPr/>
        </p:nvCxnSpPr>
        <p:spPr>
          <a:xfrm>
            <a:off x="1600200" y="4480560"/>
            <a:ext cx="0" cy="320040"/>
          </a:xfrm>
          <a:prstGeom prst="line">
            <a:avLst/>
          </a:prstGeom>
          <a:ln w="12700">
            <a:solidFill>
              <a:srgbClr val="5F6B7A"/>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960120" y="4800600"/>
            <a:ext cx="1325880" cy="502920"/>
          </a:xfrm>
          <a:prstGeom prst="rect">
            <a:avLst/>
          </a:prstGeom>
          <a:solidFill>
            <a:srgbClr val="FFFFFF"/>
          </a:solidFill>
          <a:ln w="19050">
            <a:solidFill>
              <a:srgbClr val="1B243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200" b="0">
                <a:solidFill>
                  <a:srgbClr val="1B2430"/>
                </a:solidFill>
                <a:latin typeface="Calibri"/>
              </a:rPr>
              <a:t>climate</a:t>
            </a:r>
          </a:p>
        </p:txBody>
      </p:sp>
      <p:cxnSp>
        <p:nvCxnSpPr>
          <p:cNvPr id="19" name="Connector 18"/>
          <p:cNvCxnSpPr/>
          <p:nvPr/>
        </p:nvCxnSpPr>
        <p:spPr>
          <a:xfrm>
            <a:off x="3200400" y="4480560"/>
            <a:ext cx="0" cy="320040"/>
          </a:xfrm>
          <a:prstGeom prst="line">
            <a:avLst/>
          </a:prstGeom>
          <a:ln w="12700">
            <a:solidFill>
              <a:srgbClr val="5F6B7A"/>
            </a:solidFill>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2560320" y="4800600"/>
            <a:ext cx="1325880" cy="502920"/>
          </a:xfrm>
          <a:prstGeom prst="rect">
            <a:avLst/>
          </a:prstGeom>
          <a:solidFill>
            <a:srgbClr val="FFFFFF"/>
          </a:solidFill>
          <a:ln w="19050">
            <a:solidFill>
              <a:srgbClr val="1B243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200" b="0">
                <a:solidFill>
                  <a:srgbClr val="1B2430"/>
                </a:solidFill>
                <a:latin typeface="Calibri"/>
              </a:rPr>
              <a:t>body</a:t>
            </a:r>
          </a:p>
        </p:txBody>
      </p:sp>
      <p:sp>
        <p:nvSpPr>
          <p:cNvPr id="21" name="Rectangle 20"/>
          <p:cNvSpPr/>
          <p:nvPr/>
        </p:nvSpPr>
        <p:spPr>
          <a:xfrm>
            <a:off x="6355080" y="2331720"/>
            <a:ext cx="1234440" cy="3383280"/>
          </a:xfrm>
          <a:prstGeom prst="rect">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500" b="0">
                <a:solidFill>
                  <a:srgbClr val="FFFFFF"/>
                </a:solidFill>
                <a:latin typeface="Bahnschrift SemiBold"/>
              </a:rPr>
              <a:t>central</a:t>
            </a:r>
          </a:p>
          <a:p>
            <a:pPr algn="ctr"/>
            <a:r>
              <a:rPr sz="1500" b="0">
                <a:solidFill>
                  <a:srgbClr val="FFFFFF"/>
                </a:solidFill>
                <a:latin typeface="Bahnschrift SemiBold"/>
              </a:rPr>
              <a:t>gateway</a:t>
            </a:r>
          </a:p>
        </p:txBody>
      </p:sp>
      <p:cxnSp>
        <p:nvCxnSpPr>
          <p:cNvPr id="22" name="Connector 21"/>
          <p:cNvCxnSpPr/>
          <p:nvPr/>
        </p:nvCxnSpPr>
        <p:spPr>
          <a:xfrm>
            <a:off x="7589520" y="4023360"/>
            <a:ext cx="960120" cy="0"/>
          </a:xfrm>
          <a:prstGeom prst="line">
            <a:avLst/>
          </a:prstGeom>
          <a:ln w="31750">
            <a:solidFill>
              <a:srgbClr val="2F7F72"/>
            </a:solidFill>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8549640" y="3611880"/>
            <a:ext cx="1280160" cy="822960"/>
          </a:xfrm>
          <a:prstGeom prst="rect">
            <a:avLst/>
          </a:prstGeom>
          <a:solidFill>
            <a:srgbClr val="FFFFFF"/>
          </a:solidFill>
          <a:ln w="25400">
            <a:solidFill>
              <a:srgbClr val="2F7F7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300" b="1">
                <a:solidFill>
                  <a:srgbClr val="2F7F72"/>
                </a:solidFill>
                <a:latin typeface="Calibri"/>
              </a:rPr>
              <a:t>OBD-II</a:t>
            </a:r>
          </a:p>
          <a:p>
            <a:pPr algn="ctr"/>
            <a:r>
              <a:rPr sz="1300" b="1">
                <a:solidFill>
                  <a:srgbClr val="2F7F72"/>
                </a:solidFill>
                <a:latin typeface="Calibri"/>
              </a:rPr>
              <a:t>socket</a:t>
            </a:r>
          </a:p>
        </p:txBody>
      </p:sp>
      <p:sp>
        <p:nvSpPr>
          <p:cNvPr id="24" name="TextBox 23"/>
          <p:cNvSpPr txBox="1"/>
          <p:nvPr/>
        </p:nvSpPr>
        <p:spPr>
          <a:xfrm>
            <a:off x="7680960" y="1828800"/>
            <a:ext cx="4023360" cy="274320"/>
          </a:xfrm>
          <a:prstGeom prst="rect">
            <a:avLst/>
          </a:prstGeom>
          <a:noFill/>
        </p:spPr>
        <p:txBody>
          <a:bodyPr wrap="square" lIns="0" rIns="0" tIns="0" bIns="0" anchor="t">
            <a:spAutoFit/>
          </a:bodyPr>
          <a:lstStyle/>
          <a:p>
            <a:pPr algn="l">
              <a:spcAft>
                <a:spcPts val="0"/>
              </a:spcAft>
            </a:pPr>
            <a:r>
              <a:rPr sz="1100" b="0" i="0">
                <a:solidFill>
                  <a:srgbClr val="5F6B7A"/>
                </a:solidFill>
                <a:latin typeface="Bahnschrift SemiBold"/>
              </a:rPr>
              <a:t>OUTSIDE · DIAGNOSTIC BUS</a:t>
            </a:r>
          </a:p>
        </p:txBody>
      </p:sp>
      <p:sp>
        <p:nvSpPr>
          <p:cNvPr id="25" name="TextBox 24"/>
          <p:cNvSpPr txBox="1"/>
          <p:nvPr/>
        </p:nvSpPr>
        <p:spPr>
          <a:xfrm>
            <a:off x="8229600" y="4800600"/>
            <a:ext cx="3429000" cy="1371600"/>
          </a:xfrm>
          <a:prstGeom prst="rect">
            <a:avLst/>
          </a:prstGeom>
          <a:noFill/>
        </p:spPr>
        <p:txBody>
          <a:bodyPr wrap="square" lIns="0" rIns="0" tIns="0" bIns="0" anchor="t">
            <a:spAutoFit/>
          </a:bodyPr>
          <a:lstStyle/>
          <a:p>
            <a:pPr algn="l">
              <a:lnSpc>
                <a:spcPct val="95000"/>
              </a:lnSpc>
              <a:spcAft>
                <a:spcPts val="600"/>
              </a:spcAft>
            </a:pPr>
            <a:r>
              <a:rPr sz="1400" b="1" i="0">
                <a:solidFill>
                  <a:srgbClr val="C0392B"/>
                </a:solidFill>
                <a:latin typeface="Calibri"/>
              </a:rPr>
              <a:t>✕  </a:t>
            </a:r>
            <a:r>
              <a:rPr sz="1400" b="0" i="0">
                <a:solidFill>
                  <a:srgbClr val="1B2430"/>
                </a:solidFill>
                <a:latin typeface="Calibri"/>
              </a:rPr>
              <a:t>battery broadcasts: not forwarded</a:t>
            </a:r>
          </a:p>
          <a:p>
            <a:pPr algn="l">
              <a:lnSpc>
                <a:spcPct val="95000"/>
              </a:lnSpc>
              <a:spcAft>
                <a:spcPts val="600"/>
              </a:spcAft>
            </a:pPr>
            <a:r>
              <a:rPr sz="1400" b="1" i="0">
                <a:solidFill>
                  <a:srgbClr val="2F7F72"/>
                </a:solidFill>
                <a:latin typeface="Calibri"/>
              </a:rPr>
              <a:t>✓  </a:t>
            </a:r>
            <a:r>
              <a:rPr sz="1400" b="0" i="0">
                <a:solidFill>
                  <a:srgbClr val="1B2430"/>
                </a:solidFill>
                <a:latin typeface="Calibri"/>
              </a:rPr>
              <a:t>addressed diagnostic requests: forwarded, and answered</a:t>
            </a:r>
          </a:p>
        </p:txBody>
      </p:sp>
      <p:sp>
        <p:nvSpPr>
          <p:cNvPr id="26" name="TextBox 25"/>
          <p:cNvSpPr txBox="1"/>
          <p:nvPr/>
        </p:nvSpPr>
        <p:spPr>
          <a:xfrm>
            <a:off x="8229600" y="2240280"/>
            <a:ext cx="3429000" cy="1188720"/>
          </a:xfrm>
          <a:prstGeom prst="rect">
            <a:avLst/>
          </a:prstGeom>
          <a:noFill/>
        </p:spPr>
        <p:txBody>
          <a:bodyPr wrap="square" lIns="0" rIns="0" tIns="0" bIns="0" anchor="t">
            <a:spAutoFit/>
          </a:bodyPr>
          <a:lstStyle/>
          <a:p>
            <a:pPr algn="l">
              <a:lnSpc>
                <a:spcPct val="98000"/>
              </a:lnSpc>
              <a:spcAft>
                <a:spcPts val="0"/>
              </a:spcAft>
            </a:pPr>
            <a:r>
              <a:rPr sz="1400" b="0" i="0">
                <a:solidFill>
                  <a:srgbClr val="5F6B7A"/>
                </a:solidFill>
                <a:latin typeface="Calibri"/>
              </a:rPr>
              <a:t>Like a reception desk: it does not relay the internal phone calls, but it puts you through if you ask for an extension.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8229600" cy="274320"/>
          </a:xfrm>
          <a:prstGeom prst="rect">
            <a:avLst/>
          </a:prstGeom>
          <a:noFill/>
        </p:spPr>
        <p:txBody>
          <a:bodyPr wrap="square" lIns="0" rIns="0" tIns="0" bIns="0" anchor="t">
            <a:spAutoFit/>
          </a:bodyPr>
          <a:lstStyle/>
          <a:p>
            <a:pPr algn="l">
              <a:spcAft>
                <a:spcPts val="0"/>
              </a:spcAft>
            </a:pPr>
            <a:r>
              <a:rPr sz="1100" b="0" i="0">
                <a:solidFill>
                  <a:srgbClr val="2F7F72"/>
                </a:solidFill>
                <a:latin typeface="Bahnschrift SemiBold"/>
              </a:rPr>
              <a:t>RESEARCH QUESTION 1 · EVIDENCE</a:t>
            </a:r>
          </a:p>
        </p:txBody>
      </p:sp>
      <p:sp>
        <p:nvSpPr>
          <p:cNvPr id="3" name="TextBox 2"/>
          <p:cNvSpPr txBox="1"/>
          <p:nvPr/>
        </p:nvSpPr>
        <p:spPr>
          <a:xfrm>
            <a:off x="594360" y="658368"/>
            <a:ext cx="10972800" cy="1051560"/>
          </a:xfrm>
          <a:prstGeom prst="rect">
            <a:avLst/>
          </a:prstGeom>
          <a:noFill/>
        </p:spPr>
        <p:txBody>
          <a:bodyPr wrap="square" lIns="0" rIns="0" tIns="0" bIns="0" anchor="t">
            <a:spAutoFit/>
          </a:bodyPr>
          <a:lstStyle/>
          <a:p>
            <a:pPr algn="l">
              <a:lnSpc>
                <a:spcPct val="95000"/>
              </a:lnSpc>
              <a:spcAft>
                <a:spcPts val="0"/>
              </a:spcAft>
            </a:pPr>
            <a:r>
              <a:rPr sz="2700" b="0" i="0">
                <a:solidFill>
                  <a:srgbClr val="1B2430"/>
                </a:solidFill>
                <a:latin typeface="Bahnschrift SemiBold"/>
              </a:rPr>
              <a:t>Listening at the socket for 533 s recorded 14,921 frames, and every one came from the logger itself, none from the car</a:t>
            </a:r>
          </a:p>
        </p:txBody>
      </p:sp>
      <p:sp>
        <p:nvSpPr>
          <p:cNvPr id="4" name="TextBox 3"/>
          <p:cNvSpPr txBox="1"/>
          <p:nvPr/>
        </p:nvSpPr>
        <p:spPr>
          <a:xfrm>
            <a:off x="10972800" y="6419088"/>
            <a:ext cx="621792" cy="228600"/>
          </a:xfrm>
          <a:prstGeom prst="rect">
            <a:avLst/>
          </a:prstGeom>
          <a:noFill/>
        </p:spPr>
        <p:txBody>
          <a:bodyPr wrap="square" lIns="0" rIns="0" tIns="0" bIns="0" anchor="t">
            <a:spAutoFit/>
          </a:bodyPr>
          <a:lstStyle/>
          <a:p>
            <a:pPr algn="r">
              <a:spcAft>
                <a:spcPts val="0"/>
              </a:spcAft>
            </a:pPr>
            <a:r>
              <a:rPr sz="1000" b="0" i="0">
                <a:solidFill>
                  <a:srgbClr val="5F6B7A"/>
                </a:solidFill>
                <a:latin typeface="Calibri"/>
              </a:rPr>
              <a:t>5 / 15</a:t>
            </a:r>
          </a:p>
        </p:txBody>
      </p:sp>
      <p:graphicFrame>
        <p:nvGraphicFramePr>
          <p:cNvPr id="5" name="Chart 4"/>
          <p:cNvGraphicFramePr>
            <a:graphicFrameLocks noGrp="1"/>
          </p:cNvGraphicFramePr>
          <p:nvPr/>
        </p:nvGraphicFramePr>
        <p:xfrm>
          <a:off x="502920" y="1828800"/>
          <a:ext cx="6949440" cy="4343400"/>
        </p:xfrm>
        <a:graphic>
          <a:graphicData uri="http://schemas.openxmlformats.org/drawingml/2006/chart">
            <c:chart xmlns:c="http://schemas.openxmlformats.org/drawingml/2006/chart" r:id="rId2"/>
          </a:graphicData>
        </a:graphic>
      </p:graphicFrame>
      <p:sp>
        <p:nvSpPr>
          <p:cNvPr id="6" name="TextBox 5"/>
          <p:cNvSpPr txBox="1"/>
          <p:nvPr/>
        </p:nvSpPr>
        <p:spPr>
          <a:xfrm>
            <a:off x="640080" y="6144768"/>
            <a:ext cx="6858000" cy="274320"/>
          </a:xfrm>
          <a:prstGeom prst="rect">
            <a:avLst/>
          </a:prstGeom>
          <a:noFill/>
        </p:spPr>
        <p:txBody>
          <a:bodyPr wrap="square" lIns="0" rIns="0" tIns="0" bIns="0" anchor="t">
            <a:spAutoFit/>
          </a:bodyPr>
          <a:lstStyle/>
          <a:p>
            <a:pPr algn="l">
              <a:spcAft>
                <a:spcPts val="0"/>
              </a:spcAft>
            </a:pPr>
            <a:r>
              <a:rPr sz="1100" b="0" i="0">
                <a:solidFill>
                  <a:srgbClr val="5F6B7A"/>
                </a:solidFill>
                <a:latin typeface="Calibri"/>
              </a:rPr>
              <a:t>Unsolicited frames per 11-bit identifier, log 00000039</a:t>
            </a:r>
          </a:p>
        </p:txBody>
      </p:sp>
      <p:sp>
        <p:nvSpPr>
          <p:cNvPr id="7" name="Rectangle 6"/>
          <p:cNvSpPr/>
          <p:nvPr/>
        </p:nvSpPr>
        <p:spPr>
          <a:xfrm>
            <a:off x="8001000" y="1828800"/>
            <a:ext cx="3611880" cy="4343400"/>
          </a:xfrm>
          <a:prstGeom prst="rect">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83879" y="2011680"/>
            <a:ext cx="3291840" cy="4023360"/>
          </a:xfrm>
          <a:prstGeom prst="rect">
            <a:avLst/>
          </a:prstGeom>
          <a:noFill/>
        </p:spPr>
        <p:txBody>
          <a:bodyPr wrap="square" lIns="0" rIns="0" tIns="0" bIns="0" anchor="t">
            <a:spAutoFit/>
          </a:bodyPr>
          <a:lstStyle/>
          <a:p>
            <a:pPr algn="l">
              <a:lnSpc>
                <a:spcPct val="95000"/>
              </a:lnSpc>
              <a:spcAft>
                <a:spcPts val="600"/>
              </a:spcAft>
            </a:pPr>
            <a:r>
              <a:rPr sz="4400" b="0" i="0">
                <a:solidFill>
                  <a:srgbClr val="1B2430"/>
                </a:solidFill>
                <a:latin typeface="Bahnschrift SemiBold"/>
              </a:rPr>
              <a:t>14,921</a:t>
            </a:r>
          </a:p>
          <a:p>
            <a:pPr algn="l">
              <a:lnSpc>
                <a:spcPct val="95000"/>
              </a:lnSpc>
              <a:spcAft>
                <a:spcPts val="600"/>
              </a:spcAft>
            </a:pPr>
            <a:r>
              <a:rPr sz="1450" b="0" i="0">
                <a:solidFill>
                  <a:srgbClr val="5F6B7A"/>
                </a:solidFill>
                <a:latin typeface="Calibri"/>
              </a:rPr>
              <a:t>unsolicited frames on 0x065 – 0x06F: the logger's own GNSS/IMU messages</a:t>
            </a:r>
          </a:p>
          <a:p>
            <a:pPr algn="l">
              <a:lnSpc>
                <a:spcPct val="95000"/>
              </a:lnSpc>
              <a:spcAft>
                <a:spcPts val="600"/>
              </a:spcAft>
            </a:pPr>
            <a:r>
              <a:rPr sz="4400" b="0" i="0">
                <a:solidFill>
                  <a:srgbClr val="E06A1B"/>
                </a:solidFill>
                <a:latin typeface="Bahnschrift SemiBold"/>
              </a:rPr>
              <a:t>0</a:t>
            </a:r>
          </a:p>
          <a:p>
            <a:pPr algn="l">
              <a:lnSpc>
                <a:spcPct val="95000"/>
              </a:lnSpc>
              <a:spcAft>
                <a:spcPts val="600"/>
              </a:spcAft>
            </a:pPr>
            <a:r>
              <a:rPr sz="1450" b="0" i="0">
                <a:solidFill>
                  <a:srgbClr val="5F6B7A"/>
                </a:solidFill>
                <a:latin typeface="Calibri"/>
              </a:rPr>
              <a:t>broadcast frames from the car, and none from the battery</a:t>
            </a:r>
          </a:p>
          <a:p>
            <a:pPr algn="l">
              <a:lnSpc>
                <a:spcPct val="95000"/>
              </a:lnSpc>
              <a:spcAft>
                <a:spcPts val="600"/>
              </a:spcAft>
            </a:pPr>
            <a:r>
              <a:rPr sz="1450" b="1" i="0">
                <a:solidFill>
                  <a:srgbClr val="1B2430"/>
                </a:solidFill>
                <a:latin typeface="Calibri"/>
              </a:rPr>
              <a:t>Passive reverse engineering has nothing to work on here.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8229600" cy="274320"/>
          </a:xfrm>
          <a:prstGeom prst="rect">
            <a:avLst/>
          </a:prstGeom>
          <a:noFill/>
        </p:spPr>
        <p:txBody>
          <a:bodyPr wrap="square" lIns="0" rIns="0" tIns="0" bIns="0" anchor="t">
            <a:spAutoFit/>
          </a:bodyPr>
          <a:lstStyle/>
          <a:p>
            <a:pPr algn="l">
              <a:spcAft>
                <a:spcPts val="0"/>
              </a:spcAft>
            </a:pPr>
            <a:r>
              <a:rPr sz="1100" b="0" i="0">
                <a:solidFill>
                  <a:srgbClr val="2F7F72"/>
                </a:solidFill>
                <a:latin typeface="Bahnschrift SemiBold"/>
              </a:rPr>
              <a:t>METHOD · DIAGNOSTIC REQUEST (UDS)</a:t>
            </a:r>
          </a:p>
        </p:txBody>
      </p:sp>
      <p:sp>
        <p:nvSpPr>
          <p:cNvPr id="3" name="TextBox 2"/>
          <p:cNvSpPr txBox="1"/>
          <p:nvPr/>
        </p:nvSpPr>
        <p:spPr>
          <a:xfrm>
            <a:off x="594360" y="658368"/>
            <a:ext cx="10972800" cy="1051560"/>
          </a:xfrm>
          <a:prstGeom prst="rect">
            <a:avLst/>
          </a:prstGeom>
          <a:noFill/>
        </p:spPr>
        <p:txBody>
          <a:bodyPr wrap="square" lIns="0" rIns="0" tIns="0" bIns="0" anchor="t">
            <a:spAutoFit/>
          </a:bodyPr>
          <a:lstStyle/>
          <a:p>
            <a:pPr algn="l">
              <a:lnSpc>
                <a:spcPct val="95000"/>
              </a:lnSpc>
              <a:spcAft>
                <a:spcPts val="0"/>
              </a:spcAft>
            </a:pPr>
            <a:r>
              <a:rPr sz="2700" b="0" i="0">
                <a:solidFill>
                  <a:srgbClr val="1B2430"/>
                </a:solidFill>
                <a:latin typeface="Bahnschrift SemiBold"/>
              </a:rPr>
              <a:t>So the logger asks instead: one question frame out, one answer frame back</a:t>
            </a:r>
          </a:p>
        </p:txBody>
      </p:sp>
      <p:sp>
        <p:nvSpPr>
          <p:cNvPr id="4" name="TextBox 3"/>
          <p:cNvSpPr txBox="1"/>
          <p:nvPr/>
        </p:nvSpPr>
        <p:spPr>
          <a:xfrm>
            <a:off x="10972800" y="6419088"/>
            <a:ext cx="621792" cy="228600"/>
          </a:xfrm>
          <a:prstGeom prst="rect">
            <a:avLst/>
          </a:prstGeom>
          <a:noFill/>
        </p:spPr>
        <p:txBody>
          <a:bodyPr wrap="square" lIns="0" rIns="0" tIns="0" bIns="0" anchor="t">
            <a:spAutoFit/>
          </a:bodyPr>
          <a:lstStyle/>
          <a:p>
            <a:pPr algn="r">
              <a:spcAft>
                <a:spcPts val="0"/>
              </a:spcAft>
            </a:pPr>
            <a:r>
              <a:rPr sz="1000" b="0" i="0">
                <a:solidFill>
                  <a:srgbClr val="5F6B7A"/>
                </a:solidFill>
                <a:latin typeface="Calibri"/>
              </a:rPr>
              <a:t>6 / 15</a:t>
            </a:r>
          </a:p>
        </p:txBody>
      </p:sp>
      <p:sp>
        <p:nvSpPr>
          <p:cNvPr id="5" name="Rectangle 4"/>
          <p:cNvSpPr/>
          <p:nvPr/>
        </p:nvSpPr>
        <p:spPr>
          <a:xfrm>
            <a:off x="548640" y="1783080"/>
            <a:ext cx="1828800" cy="502920"/>
          </a:xfrm>
          <a:prstGeom prst="rect">
            <a:avLst/>
          </a:prstGeom>
          <a:solidFill>
            <a:srgbClr val="2F7F7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400" b="1">
                <a:solidFill>
                  <a:srgbClr val="FFFFFF"/>
                </a:solidFill>
                <a:latin typeface="Calibri"/>
              </a:rPr>
              <a:t>CANedge2 logger</a:t>
            </a:r>
          </a:p>
        </p:txBody>
      </p:sp>
      <p:cxnSp>
        <p:nvCxnSpPr>
          <p:cNvPr id="6" name="Connector 5"/>
          <p:cNvCxnSpPr/>
          <p:nvPr/>
        </p:nvCxnSpPr>
        <p:spPr>
          <a:xfrm>
            <a:off x="1463040" y="2286000"/>
            <a:ext cx="0" cy="3200400"/>
          </a:xfrm>
          <a:prstGeom prst="line">
            <a:avLst/>
          </a:prstGeom>
          <a:ln w="19050">
            <a:solidFill>
              <a:srgbClr val="D9DEE4"/>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937760" y="1783080"/>
            <a:ext cx="1828800" cy="502920"/>
          </a:xfrm>
          <a:prstGeom prst="rect">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400" b="1">
                <a:solidFill>
                  <a:srgbClr val="FFFFFF"/>
                </a:solidFill>
                <a:latin typeface="Calibri"/>
              </a:rPr>
              <a:t>gateway</a:t>
            </a:r>
          </a:p>
        </p:txBody>
      </p:sp>
      <p:cxnSp>
        <p:nvCxnSpPr>
          <p:cNvPr id="8" name="Connector 7"/>
          <p:cNvCxnSpPr/>
          <p:nvPr/>
        </p:nvCxnSpPr>
        <p:spPr>
          <a:xfrm>
            <a:off x="5852160" y="2286000"/>
            <a:ext cx="0" cy="3200400"/>
          </a:xfrm>
          <a:prstGeom prst="line">
            <a:avLst/>
          </a:prstGeom>
          <a:ln w="19050">
            <a:solidFill>
              <a:srgbClr val="D9DEE4"/>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9144000" y="1783080"/>
            <a:ext cx="1828800" cy="502920"/>
          </a:xfrm>
          <a:prstGeom prst="rect">
            <a:avLst/>
          </a:prstGeom>
          <a:solidFill>
            <a:srgbClr val="E06A1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400" b="1">
                <a:solidFill>
                  <a:srgbClr val="FFFFFF"/>
                </a:solidFill>
                <a:latin typeface="Calibri"/>
              </a:rPr>
              <a:t>BMS</a:t>
            </a:r>
          </a:p>
        </p:txBody>
      </p:sp>
      <p:cxnSp>
        <p:nvCxnSpPr>
          <p:cNvPr id="10" name="Connector 9"/>
          <p:cNvCxnSpPr/>
          <p:nvPr/>
        </p:nvCxnSpPr>
        <p:spPr>
          <a:xfrm>
            <a:off x="10058400" y="2286000"/>
            <a:ext cx="0" cy="3200400"/>
          </a:xfrm>
          <a:prstGeom prst="line">
            <a:avLst/>
          </a:prstGeom>
          <a:ln w="19050">
            <a:solidFill>
              <a:srgbClr val="D9DEE4"/>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463040" y="2697480"/>
            <a:ext cx="4389120" cy="0"/>
          </a:xfrm>
          <a:prstGeom prst="line">
            <a:avLst/>
          </a:prstGeom>
          <a:ln w="25400">
            <a:solidFill>
              <a:srgbClr val="2F7F72"/>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852160" y="2880360"/>
            <a:ext cx="4206240" cy="0"/>
          </a:xfrm>
          <a:prstGeom prst="line">
            <a:avLst/>
          </a:prstGeom>
          <a:ln w="25400">
            <a:solidFill>
              <a:srgbClr val="2F7F72"/>
            </a:solidFill>
            <a:tailEnd type="triangle" w="med" h="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645920" y="2377440"/>
            <a:ext cx="4114800" cy="274320"/>
          </a:xfrm>
          <a:prstGeom prst="rect">
            <a:avLst/>
          </a:prstGeom>
          <a:noFill/>
        </p:spPr>
        <p:txBody>
          <a:bodyPr wrap="square" lIns="0" rIns="0" tIns="0" bIns="0" anchor="t">
            <a:spAutoFit/>
          </a:bodyPr>
          <a:lstStyle/>
          <a:p>
            <a:pPr algn="l">
              <a:spcAft>
                <a:spcPts val="0"/>
              </a:spcAft>
            </a:pPr>
            <a:r>
              <a:rPr sz="1400" b="0" i="0">
                <a:solidFill>
                  <a:srgbClr val="2F7F72"/>
                </a:solidFill>
                <a:latin typeface="Consolas"/>
              </a:rPr>
              <a:t>“read value 1E3B, please”</a:t>
            </a:r>
          </a:p>
        </p:txBody>
      </p:sp>
      <p:cxnSp>
        <p:nvCxnSpPr>
          <p:cNvPr id="14" name="Connector 13"/>
          <p:cNvCxnSpPr/>
          <p:nvPr/>
        </p:nvCxnSpPr>
        <p:spPr>
          <a:xfrm flipH="1">
            <a:off x="5852160" y="3520440"/>
            <a:ext cx="4206240" cy="0"/>
          </a:xfrm>
          <a:prstGeom prst="line">
            <a:avLst/>
          </a:prstGeom>
          <a:ln w="25400">
            <a:solidFill>
              <a:srgbClr val="E06A1B"/>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1463040" y="3703320"/>
            <a:ext cx="4389120" cy="0"/>
          </a:xfrm>
          <a:prstGeom prst="line">
            <a:avLst/>
          </a:prstGeom>
          <a:ln w="25400">
            <a:solidFill>
              <a:srgbClr val="E06A1B"/>
            </a:solidFill>
            <a:tailEnd type="triangle" w="med" h="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035040" y="3200400"/>
            <a:ext cx="3931920" cy="274320"/>
          </a:xfrm>
          <a:prstGeom prst="rect">
            <a:avLst/>
          </a:prstGeom>
          <a:noFill/>
        </p:spPr>
        <p:txBody>
          <a:bodyPr wrap="square" lIns="0" rIns="0" tIns="0" bIns="0" anchor="t">
            <a:spAutoFit/>
          </a:bodyPr>
          <a:lstStyle/>
          <a:p>
            <a:pPr algn="r">
              <a:spcAft>
                <a:spcPts val="0"/>
              </a:spcAft>
            </a:pPr>
            <a:r>
              <a:rPr sz="1400" b="0" i="0">
                <a:solidFill>
                  <a:srgbClr val="E06A1B"/>
                </a:solidFill>
                <a:latin typeface="Consolas"/>
              </a:rPr>
              <a:t>“1E3B = 05 D5”</a:t>
            </a:r>
          </a:p>
        </p:txBody>
      </p:sp>
      <p:sp>
        <p:nvSpPr>
          <p:cNvPr id="17" name="Rectangle 16"/>
          <p:cNvSpPr/>
          <p:nvPr/>
        </p:nvSpPr>
        <p:spPr>
          <a:xfrm>
            <a:off x="914400" y="4251960"/>
            <a:ext cx="10332720" cy="1417320"/>
          </a:xfrm>
          <a:prstGeom prst="rect">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43000" y="4389120"/>
            <a:ext cx="4846320" cy="1554480"/>
          </a:xfrm>
          <a:prstGeom prst="rect">
            <a:avLst/>
          </a:prstGeom>
          <a:noFill/>
        </p:spPr>
        <p:txBody>
          <a:bodyPr wrap="square" lIns="0" rIns="0" tIns="0" bIns="0" anchor="t">
            <a:spAutoFit/>
          </a:bodyPr>
          <a:lstStyle/>
          <a:p>
            <a:pPr algn="l">
              <a:lnSpc>
                <a:spcPct val="95000"/>
              </a:lnSpc>
              <a:spcAft>
                <a:spcPts val="400"/>
              </a:spcAft>
            </a:pPr>
            <a:r>
              <a:rPr sz="1500" b="1" i="0">
                <a:solidFill>
                  <a:srgbClr val="2F7F72"/>
                </a:solidFill>
                <a:latin typeface="Calibri"/>
              </a:rPr>
              <a:t>Fits in one frame (≤ 7 bytes)</a:t>
            </a:r>
          </a:p>
          <a:p>
            <a:pPr algn="l">
              <a:lnSpc>
                <a:spcPct val="95000"/>
              </a:lnSpc>
              <a:spcAft>
                <a:spcPts val="400"/>
              </a:spcAft>
            </a:pPr>
            <a:r>
              <a:rPr sz="1500" b="0" i="0">
                <a:solidFill>
                  <a:srgbClr val="1B2430"/>
                </a:solidFill>
                <a:latin typeface="Calibri"/>
              </a:rPr>
              <a:t>answer arrives complete: pack voltage, cell voltages, temperatures, SOC …</a:t>
            </a:r>
          </a:p>
        </p:txBody>
      </p:sp>
      <p:sp>
        <p:nvSpPr>
          <p:cNvPr id="19" name="TextBox 18"/>
          <p:cNvSpPr txBox="1"/>
          <p:nvPr/>
        </p:nvSpPr>
        <p:spPr>
          <a:xfrm>
            <a:off x="6263640" y="4389120"/>
            <a:ext cx="4846320" cy="1554480"/>
          </a:xfrm>
          <a:prstGeom prst="rect">
            <a:avLst/>
          </a:prstGeom>
          <a:noFill/>
        </p:spPr>
        <p:txBody>
          <a:bodyPr wrap="square" lIns="0" rIns="0" tIns="0" bIns="0" anchor="t">
            <a:spAutoFit/>
          </a:bodyPr>
          <a:lstStyle/>
          <a:p>
            <a:pPr algn="l">
              <a:lnSpc>
                <a:spcPct val="95000"/>
              </a:lnSpc>
              <a:spcAft>
                <a:spcPts val="400"/>
              </a:spcAft>
            </a:pPr>
            <a:r>
              <a:rPr sz="1500" b="1" i="0">
                <a:solidFill>
                  <a:srgbClr val="E06A1B"/>
                </a:solidFill>
                <a:latin typeface="Calibri"/>
              </a:rPr>
              <a:t>Longer answer (VIN, pack current …)</a:t>
            </a:r>
          </a:p>
          <a:p>
            <a:pPr algn="l">
              <a:lnSpc>
                <a:spcPct val="95000"/>
              </a:lnSpc>
              <a:spcAft>
                <a:spcPts val="400"/>
              </a:spcAft>
            </a:pPr>
            <a:r>
              <a:rPr sz="1500" b="0" i="0">
                <a:solidFill>
                  <a:srgbClr val="1B2430"/>
                </a:solidFill>
                <a:latin typeface="Calibri"/>
              </a:rPr>
              <a:t>split over several frames; the BMS waits for a “go on” frame (flow control) that this logger cannot send, so only the first piece is recorded</a:t>
            </a:r>
          </a:p>
        </p:txBody>
      </p:sp>
      <p:sp>
        <p:nvSpPr>
          <p:cNvPr id="20" name="TextBox 19"/>
          <p:cNvSpPr txBox="1"/>
          <p:nvPr/>
        </p:nvSpPr>
        <p:spPr>
          <a:xfrm>
            <a:off x="914400" y="5806440"/>
            <a:ext cx="10332720" cy="274320"/>
          </a:xfrm>
          <a:prstGeom prst="rect">
            <a:avLst/>
          </a:prstGeom>
          <a:noFill/>
        </p:spPr>
        <p:txBody>
          <a:bodyPr wrap="square" lIns="0" rIns="0" tIns="0" bIns="0" anchor="t">
            <a:spAutoFit/>
          </a:bodyPr>
          <a:lstStyle/>
          <a:p>
            <a:pPr algn="l">
              <a:spcAft>
                <a:spcPts val="0"/>
              </a:spcAft>
            </a:pPr>
            <a:r>
              <a:rPr sz="1100" b="0" i="0">
                <a:solidFill>
                  <a:srgbClr val="5F6B7A"/>
                </a:solidFill>
                <a:latin typeface="Calibri"/>
              </a:rPr>
              <a:t>ReadDataByIdentifier, service 0x22 of ISO 14229 (UDS), carried by ISO 15765-2 (ISO-TP)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8229600" cy="274320"/>
          </a:xfrm>
          <a:prstGeom prst="rect">
            <a:avLst/>
          </a:prstGeom>
          <a:noFill/>
        </p:spPr>
        <p:txBody>
          <a:bodyPr wrap="square" lIns="0" rIns="0" tIns="0" bIns="0" anchor="t">
            <a:spAutoFit/>
          </a:bodyPr>
          <a:lstStyle/>
          <a:p>
            <a:pPr algn="l">
              <a:spcAft>
                <a:spcPts val="0"/>
              </a:spcAft>
            </a:pPr>
            <a:r>
              <a:rPr sz="1100" b="0" i="0">
                <a:solidFill>
                  <a:srgbClr val="2F7F72"/>
                </a:solidFill>
                <a:latin typeface="Bahnschrift SemiBold"/>
              </a:rPr>
              <a:t>MATERIALS</a:t>
            </a:r>
          </a:p>
        </p:txBody>
      </p:sp>
      <p:sp>
        <p:nvSpPr>
          <p:cNvPr id="3" name="TextBox 2"/>
          <p:cNvSpPr txBox="1"/>
          <p:nvPr/>
        </p:nvSpPr>
        <p:spPr>
          <a:xfrm>
            <a:off x="594360" y="658368"/>
            <a:ext cx="10972800" cy="1051560"/>
          </a:xfrm>
          <a:prstGeom prst="rect">
            <a:avLst/>
          </a:prstGeom>
          <a:noFill/>
        </p:spPr>
        <p:txBody>
          <a:bodyPr wrap="square" lIns="0" rIns="0" tIns="0" bIns="0" anchor="t">
            <a:spAutoFit/>
          </a:bodyPr>
          <a:lstStyle/>
          <a:p>
            <a:pPr algn="l">
              <a:lnSpc>
                <a:spcPct val="95000"/>
              </a:lnSpc>
              <a:spcAft>
                <a:spcPts val="0"/>
              </a:spcAft>
            </a:pPr>
            <a:r>
              <a:rPr sz="2700" b="0" i="0">
                <a:solidFill>
                  <a:srgbClr val="1B2430"/>
                </a:solidFill>
                <a:latin typeface="Bahnschrift SemiBold"/>
              </a:rPr>
              <a:t>One logger on the OBD-II socket asks, listens and records on one clock, with no laptop on the bus</a:t>
            </a:r>
          </a:p>
        </p:txBody>
      </p:sp>
      <p:sp>
        <p:nvSpPr>
          <p:cNvPr id="4" name="TextBox 3"/>
          <p:cNvSpPr txBox="1"/>
          <p:nvPr/>
        </p:nvSpPr>
        <p:spPr>
          <a:xfrm>
            <a:off x="10972800" y="6419088"/>
            <a:ext cx="621792" cy="228600"/>
          </a:xfrm>
          <a:prstGeom prst="rect">
            <a:avLst/>
          </a:prstGeom>
          <a:noFill/>
        </p:spPr>
        <p:txBody>
          <a:bodyPr wrap="square" lIns="0" rIns="0" tIns="0" bIns="0" anchor="t">
            <a:spAutoFit/>
          </a:bodyPr>
          <a:lstStyle/>
          <a:p>
            <a:pPr algn="r">
              <a:spcAft>
                <a:spcPts val="0"/>
              </a:spcAft>
            </a:pPr>
            <a:r>
              <a:rPr sz="1000" b="0" i="0">
                <a:solidFill>
                  <a:srgbClr val="5F6B7A"/>
                </a:solidFill>
                <a:latin typeface="Calibri"/>
              </a:rPr>
              <a:t>7 / 15</a:t>
            </a:r>
          </a:p>
        </p:txBody>
      </p:sp>
      <p:sp>
        <p:nvSpPr>
          <p:cNvPr id="5" name="TextBox 4"/>
          <p:cNvSpPr txBox="1"/>
          <p:nvPr/>
        </p:nvSpPr>
        <p:spPr>
          <a:xfrm>
            <a:off x="594360" y="6419088"/>
            <a:ext cx="9144000" cy="228600"/>
          </a:xfrm>
          <a:prstGeom prst="rect">
            <a:avLst/>
          </a:prstGeom>
          <a:noFill/>
        </p:spPr>
        <p:txBody>
          <a:bodyPr wrap="square" lIns="0" rIns="0" tIns="0" bIns="0" anchor="t">
            <a:spAutoFit/>
          </a:bodyPr>
          <a:lstStyle/>
          <a:p>
            <a:pPr algn="l">
              <a:spcAft>
                <a:spcPts val="0"/>
              </a:spcAft>
            </a:pPr>
            <a:r>
              <a:rPr sz="1000" b="0" i="0">
                <a:solidFill>
                  <a:srgbClr val="5F6B7A"/>
                </a:solidFill>
                <a:latin typeface="Calibri"/>
              </a:rPr>
              <a:t>Product photos: CSS Electronics (logger), buyzero.de (cable)</a:t>
            </a:r>
          </a:p>
        </p:txBody>
      </p:sp>
      <p:pic>
        <p:nvPicPr>
          <p:cNvPr id="6" name="Picture 5" descr="canedge2_front_big.png"/>
          <p:cNvPicPr>
            <a:picLocks noChangeAspect="1"/>
          </p:cNvPicPr>
          <p:nvPr/>
        </p:nvPicPr>
        <p:blipFill>
          <a:blip r:embed="rId2"/>
          <a:stretch>
            <a:fillRect/>
          </a:stretch>
        </p:blipFill>
        <p:spPr>
          <a:xfrm>
            <a:off x="594360" y="2155110"/>
            <a:ext cx="3566160" cy="1633378"/>
          </a:xfrm>
          <a:prstGeom prst="rect">
            <a:avLst/>
          </a:prstGeom>
        </p:spPr>
      </p:pic>
      <p:pic>
        <p:nvPicPr>
          <p:cNvPr id="7" name="Picture 6" descr="canedge2_back_big.png"/>
          <p:cNvPicPr>
            <a:picLocks noChangeAspect="1"/>
          </p:cNvPicPr>
          <p:nvPr/>
        </p:nvPicPr>
        <p:blipFill>
          <a:blip r:embed="rId3"/>
          <a:stretch>
            <a:fillRect/>
          </a:stretch>
        </p:blipFill>
        <p:spPr>
          <a:xfrm>
            <a:off x="4343400" y="2161072"/>
            <a:ext cx="3566160" cy="1621455"/>
          </a:xfrm>
          <a:prstGeom prst="rect">
            <a:avLst/>
          </a:prstGeom>
        </p:spPr>
      </p:pic>
      <p:pic>
        <p:nvPicPr>
          <p:cNvPr id="8" name="Picture 7" descr="obd2_db9_cable.png"/>
          <p:cNvPicPr>
            <a:picLocks noChangeAspect="1"/>
          </p:cNvPicPr>
          <p:nvPr/>
        </p:nvPicPr>
        <p:blipFill>
          <a:blip r:embed="rId4"/>
          <a:stretch>
            <a:fillRect/>
          </a:stretch>
        </p:blipFill>
        <p:spPr>
          <a:xfrm>
            <a:off x="8587632" y="1783080"/>
            <a:ext cx="2575774" cy="2377440"/>
          </a:xfrm>
          <a:prstGeom prst="rect">
            <a:avLst/>
          </a:prstGeom>
        </p:spPr>
      </p:pic>
      <p:sp>
        <p:nvSpPr>
          <p:cNvPr id="9" name="TextBox 8"/>
          <p:cNvSpPr txBox="1"/>
          <p:nvPr/>
        </p:nvSpPr>
        <p:spPr>
          <a:xfrm>
            <a:off x="594360" y="4114800"/>
            <a:ext cx="7315200" cy="274320"/>
          </a:xfrm>
          <a:prstGeom prst="rect">
            <a:avLst/>
          </a:prstGeom>
          <a:noFill/>
        </p:spPr>
        <p:txBody>
          <a:bodyPr wrap="square" lIns="0" rIns="0" tIns="0" bIns="0" anchor="t">
            <a:spAutoFit/>
          </a:bodyPr>
          <a:lstStyle/>
          <a:p>
            <a:pPr algn="l">
              <a:spcAft>
                <a:spcPts val="0"/>
              </a:spcAft>
            </a:pPr>
            <a:r>
              <a:rPr sz="1250" b="0" i="0">
                <a:solidFill>
                  <a:srgbClr val="5F6B7A"/>
                </a:solidFill>
                <a:latin typeface="Calibri"/>
              </a:rPr>
              <a:t>CANedge2: CAN logger with SD card, can transmit a fixed request list</a:t>
            </a:r>
          </a:p>
        </p:txBody>
      </p:sp>
      <p:sp>
        <p:nvSpPr>
          <p:cNvPr id="10" name="TextBox 9"/>
          <p:cNvSpPr txBox="1"/>
          <p:nvPr/>
        </p:nvSpPr>
        <p:spPr>
          <a:xfrm>
            <a:off x="8183879" y="4114800"/>
            <a:ext cx="3429000" cy="274320"/>
          </a:xfrm>
          <a:prstGeom prst="rect">
            <a:avLst/>
          </a:prstGeom>
          <a:noFill/>
        </p:spPr>
        <p:txBody>
          <a:bodyPr wrap="square" lIns="0" rIns="0" tIns="0" bIns="0" anchor="t">
            <a:spAutoFit/>
          </a:bodyPr>
          <a:lstStyle/>
          <a:p>
            <a:pPr algn="l">
              <a:spcAft>
                <a:spcPts val="0"/>
              </a:spcAft>
            </a:pPr>
            <a:r>
              <a:rPr sz="1250" b="0" i="0">
                <a:solidFill>
                  <a:srgbClr val="5F6B7A"/>
                </a:solidFill>
                <a:latin typeface="Calibri"/>
              </a:rPr>
              <a:t>OBD-II → DB9 cable: CAN-H, CAN-L, GND, 12 V</a:t>
            </a:r>
          </a:p>
        </p:txBody>
      </p:sp>
      <p:sp>
        <p:nvSpPr>
          <p:cNvPr id="11" name="TextBox 10"/>
          <p:cNvSpPr txBox="1"/>
          <p:nvPr/>
        </p:nvSpPr>
        <p:spPr>
          <a:xfrm>
            <a:off x="594360" y="4709160"/>
            <a:ext cx="2651760" cy="1463040"/>
          </a:xfrm>
          <a:prstGeom prst="rect">
            <a:avLst/>
          </a:prstGeom>
          <a:noFill/>
        </p:spPr>
        <p:txBody>
          <a:bodyPr wrap="square" lIns="0" rIns="0" tIns="0" bIns="0" anchor="t">
            <a:spAutoFit/>
          </a:bodyPr>
          <a:lstStyle/>
          <a:p>
            <a:pPr algn="l">
              <a:lnSpc>
                <a:spcPct val="95000"/>
              </a:lnSpc>
              <a:spcAft>
                <a:spcPts val="0"/>
              </a:spcAft>
            </a:pPr>
            <a:r>
              <a:rPr sz="3600" b="0" i="0">
                <a:solidFill>
                  <a:srgbClr val="2F7F72"/>
                </a:solidFill>
                <a:latin typeface="Bahnschrift SemiBold"/>
              </a:rPr>
              <a:t>500</a:t>
            </a:r>
            <a:r>
              <a:rPr sz="1500" b="0" i="0">
                <a:solidFill>
                  <a:srgbClr val="1B2430"/>
                </a:solidFill>
                <a:latin typeface="Calibri"/>
              </a:rPr>
              <a:t>  kbit/s</a:t>
            </a:r>
          </a:p>
          <a:p>
            <a:pPr algn="l">
              <a:lnSpc>
                <a:spcPct val="95000"/>
              </a:lnSpc>
              <a:spcAft>
                <a:spcPts val="0"/>
              </a:spcAft>
            </a:pPr>
            <a:r>
              <a:rPr sz="1400" b="0" i="0">
                <a:solidFill>
                  <a:srgbClr val="5F6B7A"/>
                </a:solidFill>
                <a:latin typeface="Calibri"/>
              </a:rPr>
              <a:t>Classical CAN</a:t>
            </a:r>
          </a:p>
        </p:txBody>
      </p:sp>
      <p:sp>
        <p:nvSpPr>
          <p:cNvPr id="12" name="TextBox 11"/>
          <p:cNvSpPr txBox="1"/>
          <p:nvPr/>
        </p:nvSpPr>
        <p:spPr>
          <a:xfrm>
            <a:off x="3410712" y="4709160"/>
            <a:ext cx="2651760" cy="1463040"/>
          </a:xfrm>
          <a:prstGeom prst="rect">
            <a:avLst/>
          </a:prstGeom>
          <a:noFill/>
        </p:spPr>
        <p:txBody>
          <a:bodyPr wrap="square" lIns="0" rIns="0" tIns="0" bIns="0" anchor="t">
            <a:spAutoFit/>
          </a:bodyPr>
          <a:lstStyle/>
          <a:p>
            <a:pPr algn="l">
              <a:lnSpc>
                <a:spcPct val="95000"/>
              </a:lnSpc>
              <a:spcAft>
                <a:spcPts val="0"/>
              </a:spcAft>
            </a:pPr>
            <a:r>
              <a:rPr sz="3600" b="0" i="0">
                <a:solidFill>
                  <a:srgbClr val="2F7F72"/>
                </a:solidFill>
                <a:latin typeface="Bahnschrift SemiBold"/>
              </a:rPr>
              <a:t>60</a:t>
            </a:r>
            <a:r>
              <a:rPr sz="1500" b="0" i="0">
                <a:solidFill>
                  <a:srgbClr val="1B2430"/>
                </a:solidFill>
                <a:latin typeface="Calibri"/>
              </a:rPr>
              <a:t>  identifiers</a:t>
            </a:r>
          </a:p>
          <a:p>
            <a:pPr algn="l">
              <a:lnSpc>
                <a:spcPct val="95000"/>
              </a:lnSpc>
              <a:spcAft>
                <a:spcPts val="0"/>
              </a:spcAft>
            </a:pPr>
            <a:r>
              <a:rPr sz="1400" b="0" i="0">
                <a:solidFill>
                  <a:srgbClr val="5F6B7A"/>
                </a:solidFill>
                <a:latin typeface="Calibri"/>
              </a:rPr>
              <a:t>per request cycle</a:t>
            </a:r>
          </a:p>
        </p:txBody>
      </p:sp>
      <p:sp>
        <p:nvSpPr>
          <p:cNvPr id="13" name="TextBox 12"/>
          <p:cNvSpPr txBox="1"/>
          <p:nvPr/>
        </p:nvSpPr>
        <p:spPr>
          <a:xfrm>
            <a:off x="6227064" y="4709160"/>
            <a:ext cx="2651760" cy="1463040"/>
          </a:xfrm>
          <a:prstGeom prst="rect">
            <a:avLst/>
          </a:prstGeom>
          <a:noFill/>
        </p:spPr>
        <p:txBody>
          <a:bodyPr wrap="square" lIns="0" rIns="0" tIns="0" bIns="0" anchor="t">
            <a:spAutoFit/>
          </a:bodyPr>
          <a:lstStyle/>
          <a:p>
            <a:pPr algn="l">
              <a:lnSpc>
                <a:spcPct val="95000"/>
              </a:lnSpc>
              <a:spcAft>
                <a:spcPts val="0"/>
              </a:spcAft>
            </a:pPr>
            <a:r>
              <a:rPr sz="3600" b="0" i="0">
                <a:solidFill>
                  <a:srgbClr val="2F7F72"/>
                </a:solidFill>
                <a:latin typeface="Bahnschrift SemiBold"/>
              </a:rPr>
              <a:t>10 s</a:t>
            </a:r>
            <a:r>
              <a:rPr sz="1500" b="0" i="0">
                <a:solidFill>
                  <a:srgbClr val="1B2430"/>
                </a:solidFill>
                <a:latin typeface="Calibri"/>
              </a:rPr>
              <a:t>  cycle</a:t>
            </a:r>
          </a:p>
          <a:p>
            <a:pPr algn="l">
              <a:lnSpc>
                <a:spcPct val="95000"/>
              </a:lnSpc>
              <a:spcAft>
                <a:spcPts val="0"/>
              </a:spcAft>
            </a:pPr>
            <a:r>
              <a:rPr sz="1400" b="0" i="0">
                <a:solidFill>
                  <a:srgbClr val="5F6B7A"/>
                </a:solidFill>
                <a:latin typeface="Calibri"/>
              </a:rPr>
              <a:t>requests 150 ms apart</a:t>
            </a:r>
          </a:p>
        </p:txBody>
      </p:sp>
      <p:sp>
        <p:nvSpPr>
          <p:cNvPr id="14" name="TextBox 13"/>
          <p:cNvSpPr txBox="1"/>
          <p:nvPr/>
        </p:nvSpPr>
        <p:spPr>
          <a:xfrm>
            <a:off x="9043416" y="4709160"/>
            <a:ext cx="2651760" cy="1463040"/>
          </a:xfrm>
          <a:prstGeom prst="rect">
            <a:avLst/>
          </a:prstGeom>
          <a:noFill/>
        </p:spPr>
        <p:txBody>
          <a:bodyPr wrap="square" lIns="0" rIns="0" tIns="0" bIns="0" anchor="t">
            <a:spAutoFit/>
          </a:bodyPr>
          <a:lstStyle/>
          <a:p>
            <a:pPr algn="l">
              <a:lnSpc>
                <a:spcPct val="95000"/>
              </a:lnSpc>
              <a:spcAft>
                <a:spcPts val="0"/>
              </a:spcAft>
            </a:pPr>
            <a:r>
              <a:rPr sz="3600" b="0" i="0">
                <a:solidFill>
                  <a:srgbClr val="2F7F72"/>
                </a:solidFill>
                <a:latin typeface="Bahnschrift SemiBold"/>
              </a:rPr>
              <a:t>3</a:t>
            </a:r>
            <a:r>
              <a:rPr sz="1500" b="0" i="0">
                <a:solidFill>
                  <a:srgbClr val="1B2430"/>
                </a:solidFill>
                <a:latin typeface="Calibri"/>
              </a:rPr>
              <a:t>  sessions</a:t>
            </a:r>
          </a:p>
          <a:p>
            <a:pPr algn="l">
              <a:lnSpc>
                <a:spcPct val="95000"/>
              </a:lnSpc>
              <a:spcAft>
                <a:spcPts val="0"/>
              </a:spcAft>
            </a:pPr>
            <a:r>
              <a:rPr sz="1400" b="0" i="0">
                <a:solidFill>
                  <a:srgbClr val="5F6B7A"/>
                </a:solidFill>
                <a:latin typeface="Calibri"/>
              </a:rPr>
              <a:t>identical outcome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8229600" cy="274320"/>
          </a:xfrm>
          <a:prstGeom prst="rect">
            <a:avLst/>
          </a:prstGeom>
          <a:noFill/>
        </p:spPr>
        <p:txBody>
          <a:bodyPr wrap="square" lIns="0" rIns="0" tIns="0" bIns="0" anchor="t">
            <a:spAutoFit/>
          </a:bodyPr>
          <a:lstStyle/>
          <a:p>
            <a:pPr algn="l">
              <a:spcAft>
                <a:spcPts val="0"/>
              </a:spcAft>
            </a:pPr>
            <a:r>
              <a:rPr sz="1100" b="0" i="0">
                <a:solidFill>
                  <a:srgbClr val="2F7F72"/>
                </a:solidFill>
                <a:latin typeface="Bahnschrift SemiBold"/>
              </a:rPr>
              <a:t>METHOD · HYPOTHESIS, NOT SPECIFICATION</a:t>
            </a:r>
          </a:p>
        </p:txBody>
      </p:sp>
      <p:sp>
        <p:nvSpPr>
          <p:cNvPr id="3" name="TextBox 2"/>
          <p:cNvSpPr txBox="1"/>
          <p:nvPr/>
        </p:nvSpPr>
        <p:spPr>
          <a:xfrm>
            <a:off x="594360" y="658368"/>
            <a:ext cx="10972800" cy="1051560"/>
          </a:xfrm>
          <a:prstGeom prst="rect">
            <a:avLst/>
          </a:prstGeom>
          <a:noFill/>
        </p:spPr>
        <p:txBody>
          <a:bodyPr wrap="square" lIns="0" rIns="0" tIns="0" bIns="0" anchor="t">
            <a:spAutoFit/>
          </a:bodyPr>
          <a:lstStyle/>
          <a:p>
            <a:pPr algn="l">
              <a:lnSpc>
                <a:spcPct val="95000"/>
              </a:lnSpc>
              <a:spcAft>
                <a:spcPts val="0"/>
              </a:spcAft>
            </a:pPr>
            <a:r>
              <a:rPr sz="2700" b="0" i="0">
                <a:solidFill>
                  <a:srgbClr val="1B2430"/>
                </a:solidFill>
                <a:latin typeface="Bahnschrift SemiBold"/>
              </a:rPr>
              <a:t>A list written for the VW ID.3 supplied the candidates; every entry had to pass three tests on the ID. Buzz</a:t>
            </a:r>
          </a:p>
        </p:txBody>
      </p:sp>
      <p:sp>
        <p:nvSpPr>
          <p:cNvPr id="4" name="TextBox 3"/>
          <p:cNvSpPr txBox="1"/>
          <p:nvPr/>
        </p:nvSpPr>
        <p:spPr>
          <a:xfrm>
            <a:off x="10972800" y="6419088"/>
            <a:ext cx="621792" cy="228600"/>
          </a:xfrm>
          <a:prstGeom prst="rect">
            <a:avLst/>
          </a:prstGeom>
          <a:noFill/>
        </p:spPr>
        <p:txBody>
          <a:bodyPr wrap="square" lIns="0" rIns="0" tIns="0" bIns="0" anchor="t">
            <a:spAutoFit/>
          </a:bodyPr>
          <a:lstStyle/>
          <a:p>
            <a:pPr algn="r">
              <a:spcAft>
                <a:spcPts val="0"/>
              </a:spcAft>
            </a:pPr>
            <a:r>
              <a:rPr sz="1000" b="0" i="0">
                <a:solidFill>
                  <a:srgbClr val="5F6B7A"/>
                </a:solidFill>
                <a:latin typeface="Calibri"/>
              </a:rPr>
              <a:t>8 / 15</a:t>
            </a:r>
          </a:p>
        </p:txBody>
      </p:sp>
      <p:sp>
        <p:nvSpPr>
          <p:cNvPr id="5" name="Rectangle 4"/>
          <p:cNvSpPr/>
          <p:nvPr/>
        </p:nvSpPr>
        <p:spPr>
          <a:xfrm>
            <a:off x="594360" y="1874519"/>
            <a:ext cx="2514600" cy="2011680"/>
          </a:xfrm>
          <a:prstGeom prst="rect">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4000" b="0">
                <a:solidFill>
                  <a:srgbClr val="1B2430"/>
                </a:solidFill>
                <a:latin typeface="Bahnschrift SemiBold"/>
              </a:rPr>
              <a:t>60</a:t>
            </a:r>
          </a:p>
        </p:txBody>
      </p:sp>
      <p:cxnSp>
        <p:nvCxnSpPr>
          <p:cNvPr id="6" name="Connector 5"/>
          <p:cNvCxnSpPr/>
          <p:nvPr/>
        </p:nvCxnSpPr>
        <p:spPr>
          <a:xfrm>
            <a:off x="3136391" y="2880360"/>
            <a:ext cx="265177" cy="0"/>
          </a:xfrm>
          <a:prstGeom prst="line">
            <a:avLst/>
          </a:prstGeom>
          <a:ln w="19050">
            <a:solidFill>
              <a:srgbClr val="5F6B7A"/>
            </a:solidFill>
            <a:tailEnd type="triangle" w="med" h="med"/>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023360"/>
            <a:ext cx="2514600" cy="320040"/>
          </a:xfrm>
          <a:prstGeom prst="rect">
            <a:avLst/>
          </a:prstGeom>
          <a:noFill/>
        </p:spPr>
        <p:txBody>
          <a:bodyPr wrap="square" lIns="0" rIns="0" tIns="0" bIns="0" anchor="t">
            <a:spAutoFit/>
          </a:bodyPr>
          <a:lstStyle/>
          <a:p>
            <a:pPr algn="l">
              <a:spcAft>
                <a:spcPts val="0"/>
              </a:spcAft>
            </a:pPr>
            <a:r>
              <a:rPr sz="1600" b="1" i="0">
                <a:solidFill>
                  <a:srgbClr val="1B2430"/>
                </a:solidFill>
                <a:latin typeface="Calibri"/>
              </a:rPr>
              <a:t>identifiers requested</a:t>
            </a:r>
          </a:p>
        </p:txBody>
      </p:sp>
      <p:sp>
        <p:nvSpPr>
          <p:cNvPr id="8" name="TextBox 7"/>
          <p:cNvSpPr txBox="1"/>
          <p:nvPr/>
        </p:nvSpPr>
        <p:spPr>
          <a:xfrm>
            <a:off x="594360" y="4389120"/>
            <a:ext cx="2514600" cy="914400"/>
          </a:xfrm>
          <a:prstGeom prst="rect">
            <a:avLst/>
          </a:prstGeom>
          <a:noFill/>
        </p:spPr>
        <p:txBody>
          <a:bodyPr wrap="square" lIns="0" rIns="0" tIns="0" bIns="0" anchor="t">
            <a:spAutoFit/>
          </a:bodyPr>
          <a:lstStyle/>
          <a:p>
            <a:pPr algn="l">
              <a:lnSpc>
                <a:spcPct val="95000"/>
              </a:lnSpc>
              <a:spcAft>
                <a:spcPts val="0"/>
              </a:spcAft>
            </a:pPr>
            <a:r>
              <a:rPr sz="1400" b="0" i="0">
                <a:solidFill>
                  <a:srgbClr val="1B2430"/>
                </a:solidFill>
                <a:latin typeface="Calibri"/>
              </a:rPr>
              <a:t>taken from a public ID.3 list:
number, byte layout, formula</a:t>
            </a:r>
          </a:p>
        </p:txBody>
      </p:sp>
      <p:sp>
        <p:nvSpPr>
          <p:cNvPr id="9" name="TextBox 8"/>
          <p:cNvSpPr txBox="1"/>
          <p:nvPr/>
        </p:nvSpPr>
        <p:spPr>
          <a:xfrm>
            <a:off x="594360" y="5303520"/>
            <a:ext cx="2514600" cy="274320"/>
          </a:xfrm>
          <a:prstGeom prst="rect">
            <a:avLst/>
          </a:prstGeom>
          <a:noFill/>
        </p:spPr>
        <p:txBody>
          <a:bodyPr wrap="square" lIns="0" rIns="0" tIns="0" bIns="0" anchor="t">
            <a:spAutoFit/>
          </a:bodyPr>
          <a:lstStyle/>
          <a:p>
            <a:pPr algn="l">
              <a:spcAft>
                <a:spcPts val="0"/>
              </a:spcAft>
            </a:pPr>
            <a:r>
              <a:rPr sz="1100" b="0" i="0">
                <a:solidFill>
                  <a:srgbClr val="5F6B7A"/>
                </a:solidFill>
                <a:latin typeface="Bahnschrift SemiBold"/>
              </a:rPr>
              <a:t>HYPOTHESIS</a:t>
            </a:r>
          </a:p>
        </p:txBody>
      </p:sp>
      <p:sp>
        <p:nvSpPr>
          <p:cNvPr id="10" name="Rectangle 9"/>
          <p:cNvSpPr/>
          <p:nvPr/>
        </p:nvSpPr>
        <p:spPr>
          <a:xfrm>
            <a:off x="3429000" y="2020824"/>
            <a:ext cx="2514600" cy="1719072"/>
          </a:xfrm>
          <a:prstGeom prst="rect">
            <a:avLst/>
          </a:prstGeom>
          <a:solidFill>
            <a:srgbClr val="2F7F7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4000" b="0">
                <a:solidFill>
                  <a:srgbClr val="FFFFFF"/>
                </a:solidFill>
                <a:latin typeface="Bahnschrift SemiBold"/>
              </a:rPr>
              <a:t>52</a:t>
            </a:r>
          </a:p>
        </p:txBody>
      </p:sp>
      <p:cxnSp>
        <p:nvCxnSpPr>
          <p:cNvPr id="11" name="Connector 10"/>
          <p:cNvCxnSpPr/>
          <p:nvPr/>
        </p:nvCxnSpPr>
        <p:spPr>
          <a:xfrm>
            <a:off x="5971031" y="2880360"/>
            <a:ext cx="265177" cy="0"/>
          </a:xfrm>
          <a:prstGeom prst="line">
            <a:avLst/>
          </a:prstGeom>
          <a:ln w="19050">
            <a:solidFill>
              <a:srgbClr val="5F6B7A"/>
            </a:solidFill>
            <a:tailEnd type="triangle" w="med" h="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429000" y="4023360"/>
            <a:ext cx="2514600" cy="320040"/>
          </a:xfrm>
          <a:prstGeom prst="rect">
            <a:avLst/>
          </a:prstGeom>
          <a:noFill/>
        </p:spPr>
        <p:txBody>
          <a:bodyPr wrap="square" lIns="0" rIns="0" tIns="0" bIns="0" anchor="t">
            <a:spAutoFit/>
          </a:bodyPr>
          <a:lstStyle/>
          <a:p>
            <a:pPr algn="l">
              <a:spcAft>
                <a:spcPts val="0"/>
              </a:spcAft>
            </a:pPr>
            <a:r>
              <a:rPr sz="1600" b="1" i="0">
                <a:solidFill>
                  <a:srgbClr val="2F7F72"/>
                </a:solidFill>
                <a:latin typeface="Calibri"/>
              </a:rPr>
              <a:t>answered</a:t>
            </a:r>
          </a:p>
        </p:txBody>
      </p:sp>
      <p:sp>
        <p:nvSpPr>
          <p:cNvPr id="13" name="TextBox 12"/>
          <p:cNvSpPr txBox="1"/>
          <p:nvPr/>
        </p:nvSpPr>
        <p:spPr>
          <a:xfrm>
            <a:off x="3429000" y="4389120"/>
            <a:ext cx="2514600" cy="914400"/>
          </a:xfrm>
          <a:prstGeom prst="rect">
            <a:avLst/>
          </a:prstGeom>
          <a:noFill/>
        </p:spPr>
        <p:txBody>
          <a:bodyPr wrap="square" lIns="0" rIns="0" tIns="0" bIns="0" anchor="t">
            <a:spAutoFit/>
          </a:bodyPr>
          <a:lstStyle/>
          <a:p>
            <a:pPr algn="l">
              <a:lnSpc>
                <a:spcPct val="95000"/>
              </a:lnSpc>
              <a:spcAft>
                <a:spcPts val="0"/>
              </a:spcAft>
            </a:pPr>
            <a:r>
              <a:rPr sz="1400" b="0" i="0">
                <a:solidFill>
                  <a:srgbClr val="1B2430"/>
                </a:solidFill>
                <a:latin typeface="Calibri"/>
              </a:rPr>
              <a:t>Does the ID. Buzz know
this identifier at all?</a:t>
            </a:r>
          </a:p>
        </p:txBody>
      </p:sp>
      <p:sp>
        <p:nvSpPr>
          <p:cNvPr id="14" name="TextBox 13"/>
          <p:cNvSpPr txBox="1"/>
          <p:nvPr/>
        </p:nvSpPr>
        <p:spPr>
          <a:xfrm>
            <a:off x="3429000" y="5303520"/>
            <a:ext cx="2514600" cy="274320"/>
          </a:xfrm>
          <a:prstGeom prst="rect">
            <a:avLst/>
          </a:prstGeom>
          <a:noFill/>
        </p:spPr>
        <p:txBody>
          <a:bodyPr wrap="square" lIns="0" rIns="0" tIns="0" bIns="0" anchor="t">
            <a:spAutoFit/>
          </a:bodyPr>
          <a:lstStyle/>
          <a:p>
            <a:pPr algn="l">
              <a:spcAft>
                <a:spcPts val="0"/>
              </a:spcAft>
            </a:pPr>
            <a:r>
              <a:rPr sz="1100" b="0" i="0">
                <a:solidFill>
                  <a:srgbClr val="5F6B7A"/>
                </a:solidFill>
                <a:latin typeface="Bahnschrift SemiBold"/>
              </a:rPr>
              <a:t>RESEARCH QUESTION 2</a:t>
            </a:r>
          </a:p>
        </p:txBody>
      </p:sp>
      <p:sp>
        <p:nvSpPr>
          <p:cNvPr id="15" name="Rectangle 14"/>
          <p:cNvSpPr/>
          <p:nvPr/>
        </p:nvSpPr>
        <p:spPr>
          <a:xfrm>
            <a:off x="6263640" y="2167128"/>
            <a:ext cx="2514600" cy="1426464"/>
          </a:xfrm>
          <a:prstGeom prst="rect">
            <a:avLst/>
          </a:prstGeom>
          <a:solidFill>
            <a:srgbClr val="2F7F7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4000" b="0">
                <a:solidFill>
                  <a:srgbClr val="FFFFFF"/>
                </a:solidFill>
                <a:latin typeface="Bahnschrift SemiBold"/>
              </a:rPr>
              <a:t>49</a:t>
            </a:r>
          </a:p>
        </p:txBody>
      </p:sp>
      <p:cxnSp>
        <p:nvCxnSpPr>
          <p:cNvPr id="16" name="Connector 15"/>
          <p:cNvCxnSpPr/>
          <p:nvPr/>
        </p:nvCxnSpPr>
        <p:spPr>
          <a:xfrm>
            <a:off x="8805672" y="2880360"/>
            <a:ext cx="265176" cy="0"/>
          </a:xfrm>
          <a:prstGeom prst="line">
            <a:avLst/>
          </a:prstGeom>
          <a:ln w="19050">
            <a:solidFill>
              <a:srgbClr val="5F6B7A"/>
            </a:solidFill>
            <a:tailEnd type="triangle" w="med" h="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263640" y="4023360"/>
            <a:ext cx="2514600" cy="320040"/>
          </a:xfrm>
          <a:prstGeom prst="rect">
            <a:avLst/>
          </a:prstGeom>
          <a:noFill/>
        </p:spPr>
        <p:txBody>
          <a:bodyPr wrap="square" lIns="0" rIns="0" tIns="0" bIns="0" anchor="t">
            <a:spAutoFit/>
          </a:bodyPr>
          <a:lstStyle/>
          <a:p>
            <a:pPr algn="l">
              <a:spcAft>
                <a:spcPts val="0"/>
              </a:spcAft>
            </a:pPr>
            <a:r>
              <a:rPr sz="1600" b="1" i="0">
                <a:solidFill>
                  <a:srgbClr val="2F7F72"/>
                </a:solidFill>
                <a:latin typeface="Calibri"/>
              </a:rPr>
              <a:t>carry a usable value</a:t>
            </a:r>
          </a:p>
        </p:txBody>
      </p:sp>
      <p:sp>
        <p:nvSpPr>
          <p:cNvPr id="18" name="TextBox 17"/>
          <p:cNvSpPr txBox="1"/>
          <p:nvPr/>
        </p:nvSpPr>
        <p:spPr>
          <a:xfrm>
            <a:off x="6263640" y="4389120"/>
            <a:ext cx="2514600" cy="914400"/>
          </a:xfrm>
          <a:prstGeom prst="rect">
            <a:avLst/>
          </a:prstGeom>
          <a:noFill/>
        </p:spPr>
        <p:txBody>
          <a:bodyPr wrap="square" lIns="0" rIns="0" tIns="0" bIns="0" anchor="t">
            <a:spAutoFit/>
          </a:bodyPr>
          <a:lstStyle/>
          <a:p>
            <a:pPr algn="l">
              <a:lnSpc>
                <a:spcPct val="95000"/>
              </a:lnSpc>
              <a:spcAft>
                <a:spcPts val="0"/>
              </a:spcAft>
            </a:pPr>
            <a:r>
              <a:rPr sz="1400" b="0" i="0">
                <a:solidFill>
                  <a:srgbClr val="1B2430"/>
                </a:solidFill>
                <a:latin typeface="Calibri"/>
              </a:rPr>
              <a:t>Does the ID.3 formula still
give a sensible quantity?</a:t>
            </a:r>
          </a:p>
        </p:txBody>
      </p:sp>
      <p:sp>
        <p:nvSpPr>
          <p:cNvPr id="19" name="TextBox 18"/>
          <p:cNvSpPr txBox="1"/>
          <p:nvPr/>
        </p:nvSpPr>
        <p:spPr>
          <a:xfrm>
            <a:off x="6263640" y="5303520"/>
            <a:ext cx="2514600" cy="274320"/>
          </a:xfrm>
          <a:prstGeom prst="rect">
            <a:avLst/>
          </a:prstGeom>
          <a:noFill/>
        </p:spPr>
        <p:txBody>
          <a:bodyPr wrap="square" lIns="0" rIns="0" tIns="0" bIns="0" anchor="t">
            <a:spAutoFit/>
          </a:bodyPr>
          <a:lstStyle/>
          <a:p>
            <a:pPr algn="l">
              <a:spcAft>
                <a:spcPts val="0"/>
              </a:spcAft>
            </a:pPr>
            <a:r>
              <a:rPr sz="1100" b="0" i="0">
                <a:solidFill>
                  <a:srgbClr val="5F6B7A"/>
                </a:solidFill>
                <a:latin typeface="Bahnschrift SemiBold"/>
              </a:rPr>
              <a:t>RESEARCH QUESTION 3</a:t>
            </a:r>
          </a:p>
        </p:txBody>
      </p:sp>
      <p:sp>
        <p:nvSpPr>
          <p:cNvPr id="20" name="Rectangle 19"/>
          <p:cNvSpPr/>
          <p:nvPr/>
        </p:nvSpPr>
        <p:spPr>
          <a:xfrm>
            <a:off x="9098280" y="2313432"/>
            <a:ext cx="2514600" cy="1133856"/>
          </a:xfrm>
          <a:prstGeom prst="rect">
            <a:avLst/>
          </a:prstGeom>
          <a:solidFill>
            <a:srgbClr val="E06A1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4000" b="0">
                <a:solidFill>
                  <a:srgbClr val="FFFFFF"/>
                </a:solidFill>
                <a:latin typeface="Bahnschrift SemiBold"/>
              </a:rPr>
              <a:t>2 + ≈12</a:t>
            </a:r>
          </a:p>
        </p:txBody>
      </p:sp>
      <p:sp>
        <p:nvSpPr>
          <p:cNvPr id="21" name="TextBox 20"/>
          <p:cNvSpPr txBox="1"/>
          <p:nvPr/>
        </p:nvSpPr>
        <p:spPr>
          <a:xfrm>
            <a:off x="9098280" y="4023360"/>
            <a:ext cx="2514600" cy="320040"/>
          </a:xfrm>
          <a:prstGeom prst="rect">
            <a:avLst/>
          </a:prstGeom>
          <a:noFill/>
        </p:spPr>
        <p:txBody>
          <a:bodyPr wrap="square" lIns="0" rIns="0" tIns="0" bIns="0" anchor="t">
            <a:spAutoFit/>
          </a:bodyPr>
          <a:lstStyle/>
          <a:p>
            <a:pPr algn="l">
              <a:spcAft>
                <a:spcPts val="0"/>
              </a:spcAft>
            </a:pPr>
            <a:r>
              <a:rPr sz="1600" b="1" i="0">
                <a:solidFill>
                  <a:srgbClr val="E06A1B"/>
                </a:solidFill>
                <a:latin typeface="Calibri"/>
              </a:rPr>
              <a:t>confirmed</a:t>
            </a:r>
          </a:p>
        </p:txBody>
      </p:sp>
      <p:sp>
        <p:nvSpPr>
          <p:cNvPr id="22" name="TextBox 21"/>
          <p:cNvSpPr txBox="1"/>
          <p:nvPr/>
        </p:nvSpPr>
        <p:spPr>
          <a:xfrm>
            <a:off x="9098280" y="4389120"/>
            <a:ext cx="2514600" cy="914400"/>
          </a:xfrm>
          <a:prstGeom prst="rect">
            <a:avLst/>
          </a:prstGeom>
          <a:noFill/>
        </p:spPr>
        <p:txBody>
          <a:bodyPr wrap="square" lIns="0" rIns="0" tIns="0" bIns="0" anchor="t">
            <a:spAutoFit/>
          </a:bodyPr>
          <a:lstStyle/>
          <a:p>
            <a:pPr algn="l">
              <a:lnSpc>
                <a:spcPct val="95000"/>
              </a:lnSpc>
              <a:spcAft>
                <a:spcPts val="0"/>
              </a:spcAft>
            </a:pPr>
            <a:r>
              <a:rPr sz="1400" b="0" i="0">
                <a:solidFill>
                  <a:srgbClr val="1B2430"/>
                </a:solidFill>
                <a:latin typeface="Calibri"/>
              </a:rPr>
              <a:t>Is the value true, checked
against something independent?</a:t>
            </a:r>
          </a:p>
        </p:txBody>
      </p:sp>
      <p:sp>
        <p:nvSpPr>
          <p:cNvPr id="23" name="TextBox 22"/>
          <p:cNvSpPr txBox="1"/>
          <p:nvPr/>
        </p:nvSpPr>
        <p:spPr>
          <a:xfrm>
            <a:off x="9098280" y="5303520"/>
            <a:ext cx="2514600" cy="274320"/>
          </a:xfrm>
          <a:prstGeom prst="rect">
            <a:avLst/>
          </a:prstGeom>
          <a:noFill/>
        </p:spPr>
        <p:txBody>
          <a:bodyPr wrap="square" lIns="0" rIns="0" tIns="0" bIns="0" anchor="t">
            <a:spAutoFit/>
          </a:bodyPr>
          <a:lstStyle/>
          <a:p>
            <a:pPr algn="l">
              <a:spcAft>
                <a:spcPts val="0"/>
              </a:spcAft>
            </a:pPr>
            <a:r>
              <a:rPr sz="1100" b="0" i="0">
                <a:solidFill>
                  <a:srgbClr val="5F6B7A"/>
                </a:solidFill>
                <a:latin typeface="Bahnschrift SemiBold"/>
              </a:rPr>
              <a:t>RESEARCH QUESTION 4</a:t>
            </a:r>
          </a:p>
        </p:txBody>
      </p:sp>
      <p:sp>
        <p:nvSpPr>
          <p:cNvPr id="24" name="TextBox 23"/>
          <p:cNvSpPr txBox="1"/>
          <p:nvPr/>
        </p:nvSpPr>
        <p:spPr>
          <a:xfrm>
            <a:off x="594360" y="5806440"/>
            <a:ext cx="10972800" cy="457200"/>
          </a:xfrm>
          <a:prstGeom prst="rect">
            <a:avLst/>
          </a:prstGeom>
          <a:noFill/>
        </p:spPr>
        <p:txBody>
          <a:bodyPr wrap="square" lIns="0" rIns="0" tIns="0" bIns="0" anchor="t">
            <a:spAutoFit/>
          </a:bodyPr>
          <a:lstStyle/>
          <a:p>
            <a:pPr algn="l">
              <a:spcAft>
                <a:spcPts val="0"/>
              </a:spcAft>
            </a:pPr>
            <a:r>
              <a:rPr sz="1400" b="0" i="0">
                <a:solidFill>
                  <a:srgbClr val="5F6B7A"/>
                </a:solidFill>
                <a:latin typeface="Calibri"/>
              </a:rPr>
              <a:t>The list is community-compiled, unvalidated and made for a different car. Treating it as a specification would have reproduced its errors.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8229600" cy="274320"/>
          </a:xfrm>
          <a:prstGeom prst="rect">
            <a:avLst/>
          </a:prstGeom>
          <a:noFill/>
        </p:spPr>
        <p:txBody>
          <a:bodyPr wrap="square" lIns="0" rIns="0" tIns="0" bIns="0" anchor="t">
            <a:spAutoFit/>
          </a:bodyPr>
          <a:lstStyle/>
          <a:p>
            <a:pPr algn="l">
              <a:spcAft>
                <a:spcPts val="0"/>
              </a:spcAft>
            </a:pPr>
            <a:r>
              <a:rPr sz="1100" b="0" i="0">
                <a:solidFill>
                  <a:srgbClr val="2F7F72"/>
                </a:solidFill>
                <a:latin typeface="Bahnschrift SemiBold"/>
              </a:rPr>
              <a:t>RESEARCH QUESTION 2 · REACHABILITY</a:t>
            </a:r>
          </a:p>
        </p:txBody>
      </p:sp>
      <p:sp>
        <p:nvSpPr>
          <p:cNvPr id="3" name="TextBox 2"/>
          <p:cNvSpPr txBox="1"/>
          <p:nvPr/>
        </p:nvSpPr>
        <p:spPr>
          <a:xfrm>
            <a:off x="594360" y="658368"/>
            <a:ext cx="10972800" cy="1051560"/>
          </a:xfrm>
          <a:prstGeom prst="rect">
            <a:avLst/>
          </a:prstGeom>
          <a:noFill/>
        </p:spPr>
        <p:txBody>
          <a:bodyPr wrap="square" lIns="0" rIns="0" tIns="0" bIns="0" anchor="t">
            <a:spAutoFit/>
          </a:bodyPr>
          <a:lstStyle/>
          <a:p>
            <a:pPr algn="l">
              <a:lnSpc>
                <a:spcPct val="95000"/>
              </a:lnSpc>
              <a:spcAft>
                <a:spcPts val="0"/>
              </a:spcAft>
            </a:pPr>
            <a:r>
              <a:rPr sz="2700" b="0" i="0">
                <a:solidFill>
                  <a:srgbClr val="1B2430"/>
                </a:solidFill>
                <a:latin typeface="Bahnschrift SemiBold"/>
              </a:rPr>
              <a:t>52 of 60 identifiers answered, and every failure traces back to the measurement setup, not to the car</a:t>
            </a:r>
          </a:p>
        </p:txBody>
      </p:sp>
      <p:sp>
        <p:nvSpPr>
          <p:cNvPr id="4" name="TextBox 3"/>
          <p:cNvSpPr txBox="1"/>
          <p:nvPr/>
        </p:nvSpPr>
        <p:spPr>
          <a:xfrm>
            <a:off x="10972800" y="6419088"/>
            <a:ext cx="621792" cy="228600"/>
          </a:xfrm>
          <a:prstGeom prst="rect">
            <a:avLst/>
          </a:prstGeom>
          <a:noFill/>
        </p:spPr>
        <p:txBody>
          <a:bodyPr wrap="square" lIns="0" rIns="0" tIns="0" bIns="0" anchor="t">
            <a:spAutoFit/>
          </a:bodyPr>
          <a:lstStyle/>
          <a:p>
            <a:pPr algn="r">
              <a:spcAft>
                <a:spcPts val="0"/>
              </a:spcAft>
            </a:pPr>
            <a:r>
              <a:rPr sz="1000" b="0" i="0">
                <a:solidFill>
                  <a:srgbClr val="5F6B7A"/>
                </a:solidFill>
                <a:latin typeface="Calibri"/>
              </a:rPr>
              <a:t>9 / 15</a:t>
            </a:r>
          </a:p>
        </p:txBody>
      </p:sp>
      <p:sp>
        <p:nvSpPr>
          <p:cNvPr id="5" name="Rectangle 4"/>
          <p:cNvSpPr/>
          <p:nvPr/>
        </p:nvSpPr>
        <p:spPr>
          <a:xfrm>
            <a:off x="685800" y="1874519"/>
            <a:ext cx="512064" cy="548640"/>
          </a:xfrm>
          <a:prstGeom prst="rect">
            <a:avLst/>
          </a:prstGeom>
          <a:solidFill>
            <a:srgbClr val="2F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289304" y="1874519"/>
            <a:ext cx="512064" cy="548640"/>
          </a:xfrm>
          <a:prstGeom prst="rect">
            <a:avLst/>
          </a:prstGeom>
          <a:solidFill>
            <a:srgbClr val="2F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892808" y="1874519"/>
            <a:ext cx="512064" cy="548640"/>
          </a:xfrm>
          <a:prstGeom prst="rect">
            <a:avLst/>
          </a:prstGeom>
          <a:solidFill>
            <a:srgbClr val="2F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496312" y="1874519"/>
            <a:ext cx="512064" cy="548640"/>
          </a:xfrm>
          <a:prstGeom prst="rect">
            <a:avLst/>
          </a:prstGeom>
          <a:solidFill>
            <a:srgbClr val="2F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099816" y="1874519"/>
            <a:ext cx="512064" cy="548640"/>
          </a:xfrm>
          <a:prstGeom prst="rect">
            <a:avLst/>
          </a:prstGeom>
          <a:solidFill>
            <a:srgbClr val="2F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703320" y="1874519"/>
            <a:ext cx="512064" cy="548640"/>
          </a:xfrm>
          <a:prstGeom prst="rect">
            <a:avLst/>
          </a:prstGeom>
          <a:solidFill>
            <a:srgbClr val="2F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06824" y="1874519"/>
            <a:ext cx="512064" cy="548640"/>
          </a:xfrm>
          <a:prstGeom prst="rect">
            <a:avLst/>
          </a:prstGeom>
          <a:solidFill>
            <a:srgbClr val="2F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910328" y="1874519"/>
            <a:ext cx="512064" cy="548640"/>
          </a:xfrm>
          <a:prstGeom prst="rect">
            <a:avLst/>
          </a:prstGeom>
          <a:solidFill>
            <a:srgbClr val="2F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513832" y="1874519"/>
            <a:ext cx="512064" cy="548640"/>
          </a:xfrm>
          <a:prstGeom prst="rect">
            <a:avLst/>
          </a:prstGeom>
          <a:solidFill>
            <a:srgbClr val="2F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17336" y="1874519"/>
            <a:ext cx="512064" cy="548640"/>
          </a:xfrm>
          <a:prstGeom prst="rect">
            <a:avLst/>
          </a:prstGeom>
          <a:solidFill>
            <a:srgbClr val="2F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85800" y="2514600"/>
            <a:ext cx="512064" cy="548640"/>
          </a:xfrm>
          <a:prstGeom prst="rect">
            <a:avLst/>
          </a:prstGeom>
          <a:solidFill>
            <a:srgbClr val="2F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289304" y="2514600"/>
            <a:ext cx="512064" cy="548640"/>
          </a:xfrm>
          <a:prstGeom prst="rect">
            <a:avLst/>
          </a:prstGeom>
          <a:solidFill>
            <a:srgbClr val="2F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92808" y="2514600"/>
            <a:ext cx="512064" cy="548640"/>
          </a:xfrm>
          <a:prstGeom prst="rect">
            <a:avLst/>
          </a:prstGeom>
          <a:solidFill>
            <a:srgbClr val="2F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496312" y="2514600"/>
            <a:ext cx="512064" cy="548640"/>
          </a:xfrm>
          <a:prstGeom prst="rect">
            <a:avLst/>
          </a:prstGeom>
          <a:solidFill>
            <a:srgbClr val="2F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099816" y="2514600"/>
            <a:ext cx="512064" cy="548640"/>
          </a:xfrm>
          <a:prstGeom prst="rect">
            <a:avLst/>
          </a:prstGeom>
          <a:solidFill>
            <a:srgbClr val="2F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703320" y="2514600"/>
            <a:ext cx="512064" cy="548640"/>
          </a:xfrm>
          <a:prstGeom prst="rect">
            <a:avLst/>
          </a:prstGeom>
          <a:solidFill>
            <a:srgbClr val="2F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306824" y="2514600"/>
            <a:ext cx="512064" cy="548640"/>
          </a:xfrm>
          <a:prstGeom prst="rect">
            <a:avLst/>
          </a:prstGeom>
          <a:solidFill>
            <a:srgbClr val="2F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10328" y="2514600"/>
            <a:ext cx="512064" cy="548640"/>
          </a:xfrm>
          <a:prstGeom prst="rect">
            <a:avLst/>
          </a:prstGeom>
          <a:solidFill>
            <a:srgbClr val="2F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513832" y="2514600"/>
            <a:ext cx="512064" cy="548640"/>
          </a:xfrm>
          <a:prstGeom prst="rect">
            <a:avLst/>
          </a:prstGeom>
          <a:solidFill>
            <a:srgbClr val="2F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17336" y="2514600"/>
            <a:ext cx="512064" cy="548640"/>
          </a:xfrm>
          <a:prstGeom prst="rect">
            <a:avLst/>
          </a:prstGeom>
          <a:solidFill>
            <a:srgbClr val="2F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85800" y="3154679"/>
            <a:ext cx="512064" cy="548640"/>
          </a:xfrm>
          <a:prstGeom prst="rect">
            <a:avLst/>
          </a:prstGeom>
          <a:solidFill>
            <a:srgbClr val="2F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289304" y="3154679"/>
            <a:ext cx="512064" cy="548640"/>
          </a:xfrm>
          <a:prstGeom prst="rect">
            <a:avLst/>
          </a:prstGeom>
          <a:solidFill>
            <a:srgbClr val="2F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892808" y="3154679"/>
            <a:ext cx="512064" cy="548640"/>
          </a:xfrm>
          <a:prstGeom prst="rect">
            <a:avLst/>
          </a:prstGeom>
          <a:solidFill>
            <a:srgbClr val="2F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496312" y="3154679"/>
            <a:ext cx="512064" cy="548640"/>
          </a:xfrm>
          <a:prstGeom prst="rect">
            <a:avLst/>
          </a:prstGeom>
          <a:solidFill>
            <a:srgbClr val="2F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099816" y="3154679"/>
            <a:ext cx="512064" cy="548640"/>
          </a:xfrm>
          <a:prstGeom prst="rect">
            <a:avLst/>
          </a:prstGeom>
          <a:solidFill>
            <a:srgbClr val="2F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703320" y="3154679"/>
            <a:ext cx="512064" cy="548640"/>
          </a:xfrm>
          <a:prstGeom prst="rect">
            <a:avLst/>
          </a:prstGeom>
          <a:solidFill>
            <a:srgbClr val="2F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306824" y="3154679"/>
            <a:ext cx="512064" cy="548640"/>
          </a:xfrm>
          <a:prstGeom prst="rect">
            <a:avLst/>
          </a:prstGeom>
          <a:solidFill>
            <a:srgbClr val="2F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910328" y="3154679"/>
            <a:ext cx="512064" cy="548640"/>
          </a:xfrm>
          <a:prstGeom prst="rect">
            <a:avLst/>
          </a:prstGeom>
          <a:solidFill>
            <a:srgbClr val="2F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513832" y="3154679"/>
            <a:ext cx="512064" cy="548640"/>
          </a:xfrm>
          <a:prstGeom prst="rect">
            <a:avLst/>
          </a:prstGeom>
          <a:solidFill>
            <a:srgbClr val="2F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117336" y="3154679"/>
            <a:ext cx="512064" cy="548640"/>
          </a:xfrm>
          <a:prstGeom prst="rect">
            <a:avLst/>
          </a:prstGeom>
          <a:solidFill>
            <a:srgbClr val="2F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85800" y="3794759"/>
            <a:ext cx="512064" cy="548640"/>
          </a:xfrm>
          <a:prstGeom prst="rect">
            <a:avLst/>
          </a:prstGeom>
          <a:solidFill>
            <a:srgbClr val="2F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289304" y="3794759"/>
            <a:ext cx="512064" cy="548640"/>
          </a:xfrm>
          <a:prstGeom prst="rect">
            <a:avLst/>
          </a:prstGeom>
          <a:solidFill>
            <a:srgbClr val="2F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892808" y="3794759"/>
            <a:ext cx="512064" cy="548640"/>
          </a:xfrm>
          <a:prstGeom prst="rect">
            <a:avLst/>
          </a:prstGeom>
          <a:solidFill>
            <a:srgbClr val="2F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2496312" y="3794759"/>
            <a:ext cx="512064" cy="548640"/>
          </a:xfrm>
          <a:prstGeom prst="rect">
            <a:avLst/>
          </a:prstGeom>
          <a:solidFill>
            <a:srgbClr val="2F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099816" y="3794759"/>
            <a:ext cx="512064" cy="548640"/>
          </a:xfrm>
          <a:prstGeom prst="rect">
            <a:avLst/>
          </a:prstGeom>
          <a:solidFill>
            <a:srgbClr val="2F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703320" y="3794759"/>
            <a:ext cx="512064" cy="548640"/>
          </a:xfrm>
          <a:prstGeom prst="rect">
            <a:avLst/>
          </a:prstGeom>
          <a:solidFill>
            <a:srgbClr val="2F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306824" y="3794759"/>
            <a:ext cx="512064" cy="548640"/>
          </a:xfrm>
          <a:prstGeom prst="rect">
            <a:avLst/>
          </a:prstGeom>
          <a:solidFill>
            <a:srgbClr val="2F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4910328" y="3794759"/>
            <a:ext cx="512064" cy="548640"/>
          </a:xfrm>
          <a:prstGeom prst="rect">
            <a:avLst/>
          </a:prstGeom>
          <a:solidFill>
            <a:srgbClr val="2F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513832" y="3794759"/>
            <a:ext cx="512064" cy="548640"/>
          </a:xfrm>
          <a:prstGeom prst="rect">
            <a:avLst/>
          </a:prstGeom>
          <a:solidFill>
            <a:srgbClr val="2F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117336" y="3794759"/>
            <a:ext cx="512064" cy="548640"/>
          </a:xfrm>
          <a:prstGeom prst="rect">
            <a:avLst/>
          </a:prstGeom>
          <a:solidFill>
            <a:srgbClr val="2F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85800" y="4434840"/>
            <a:ext cx="512064" cy="548640"/>
          </a:xfrm>
          <a:prstGeom prst="rect">
            <a:avLst/>
          </a:prstGeom>
          <a:solidFill>
            <a:srgbClr val="2F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289304" y="4434840"/>
            <a:ext cx="512064" cy="548640"/>
          </a:xfrm>
          <a:prstGeom prst="rect">
            <a:avLst/>
          </a:prstGeom>
          <a:solidFill>
            <a:srgbClr val="2F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892808" y="4434840"/>
            <a:ext cx="512064" cy="548640"/>
          </a:xfrm>
          <a:prstGeom prst="rect">
            <a:avLst/>
          </a:prstGeom>
          <a:solidFill>
            <a:srgbClr val="2F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2496312" y="4434840"/>
            <a:ext cx="512064" cy="548640"/>
          </a:xfrm>
          <a:prstGeom prst="rect">
            <a:avLst/>
          </a:prstGeom>
          <a:solidFill>
            <a:srgbClr val="2F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3099816" y="4434840"/>
            <a:ext cx="512064" cy="548640"/>
          </a:xfrm>
          <a:prstGeom prst="rect">
            <a:avLst/>
          </a:prstGeom>
          <a:solidFill>
            <a:srgbClr val="2F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3703320" y="4434840"/>
            <a:ext cx="512064" cy="548640"/>
          </a:xfrm>
          <a:prstGeom prst="rect">
            <a:avLst/>
          </a:prstGeom>
          <a:solidFill>
            <a:srgbClr val="2F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4306824" y="4434840"/>
            <a:ext cx="512064" cy="548640"/>
          </a:xfrm>
          <a:prstGeom prst="rect">
            <a:avLst/>
          </a:prstGeom>
          <a:solidFill>
            <a:srgbClr val="2F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4910328" y="4434840"/>
            <a:ext cx="512064" cy="548640"/>
          </a:xfrm>
          <a:prstGeom prst="rect">
            <a:avLst/>
          </a:prstGeom>
          <a:solidFill>
            <a:srgbClr val="2F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5513832" y="4434840"/>
            <a:ext cx="512064" cy="548640"/>
          </a:xfrm>
          <a:prstGeom prst="rect">
            <a:avLst/>
          </a:prstGeom>
          <a:solidFill>
            <a:srgbClr val="2F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117336" y="4434840"/>
            <a:ext cx="512064" cy="548640"/>
          </a:xfrm>
          <a:prstGeom prst="rect">
            <a:avLst/>
          </a:prstGeom>
          <a:solidFill>
            <a:srgbClr val="B9DBD4"/>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600" b="1">
                <a:solidFill>
                  <a:srgbClr val="1B2430"/>
                </a:solidFill>
                <a:latin typeface="Calibri"/>
              </a:rPr>
              <a:t>×</a:t>
            </a:r>
          </a:p>
        </p:txBody>
      </p:sp>
      <p:sp>
        <p:nvSpPr>
          <p:cNvPr id="55" name="Rectangle 54"/>
          <p:cNvSpPr/>
          <p:nvPr/>
        </p:nvSpPr>
        <p:spPr>
          <a:xfrm>
            <a:off x="685800" y="5074920"/>
            <a:ext cx="512064" cy="548640"/>
          </a:xfrm>
          <a:prstGeom prst="rect">
            <a:avLst/>
          </a:prstGeom>
          <a:solidFill>
            <a:srgbClr val="B9DBD4"/>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600" b="1">
                <a:solidFill>
                  <a:srgbClr val="1B2430"/>
                </a:solidFill>
                <a:latin typeface="Calibri"/>
              </a:rPr>
              <a:t>×</a:t>
            </a:r>
          </a:p>
        </p:txBody>
      </p:sp>
      <p:sp>
        <p:nvSpPr>
          <p:cNvPr id="56" name="Rectangle 55"/>
          <p:cNvSpPr/>
          <p:nvPr/>
        </p:nvSpPr>
        <p:spPr>
          <a:xfrm>
            <a:off x="1289304" y="5074920"/>
            <a:ext cx="512064" cy="548640"/>
          </a:xfrm>
          <a:prstGeom prst="rect">
            <a:avLst/>
          </a:prstGeom>
          <a:solidFill>
            <a:srgbClr val="B9DBD4"/>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600" b="1">
                <a:solidFill>
                  <a:srgbClr val="1B2430"/>
                </a:solidFill>
                <a:latin typeface="Calibri"/>
              </a:rPr>
              <a:t>×</a:t>
            </a:r>
          </a:p>
        </p:txBody>
      </p:sp>
      <p:sp>
        <p:nvSpPr>
          <p:cNvPr id="57" name="Rectangle 56"/>
          <p:cNvSpPr/>
          <p:nvPr/>
        </p:nvSpPr>
        <p:spPr>
          <a:xfrm>
            <a:off x="1892808" y="5074920"/>
            <a:ext cx="512064" cy="548640"/>
          </a:xfrm>
          <a:prstGeom prst="rect">
            <a:avLst/>
          </a:prstGeom>
          <a:solidFill>
            <a:srgbClr val="E06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2496312" y="5074920"/>
            <a:ext cx="512064" cy="548640"/>
          </a:xfrm>
          <a:prstGeom prst="rect">
            <a:avLst/>
          </a:prstGeom>
          <a:solidFill>
            <a:srgbClr val="E06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3099816" y="5074920"/>
            <a:ext cx="512064" cy="548640"/>
          </a:xfrm>
          <a:prstGeom prst="rect">
            <a:avLst/>
          </a:prstGeom>
          <a:solidFill>
            <a:srgbClr val="E06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3703320" y="5074920"/>
            <a:ext cx="512064" cy="548640"/>
          </a:xfrm>
          <a:prstGeom prst="rect">
            <a:avLst/>
          </a:prstGeom>
          <a:solidFill>
            <a:srgbClr val="E06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4306824" y="5074920"/>
            <a:ext cx="512064" cy="548640"/>
          </a:xfrm>
          <a:prstGeom prst="rect">
            <a:avLst/>
          </a:prstGeom>
          <a:solidFill>
            <a:srgbClr val="E06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4910328" y="5074920"/>
            <a:ext cx="512064" cy="548640"/>
          </a:xfrm>
          <a:prstGeom prst="rect">
            <a:avLst/>
          </a:prstGeom>
          <a:solidFill>
            <a:srgbClr val="E06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5513832" y="5074920"/>
            <a:ext cx="512064" cy="5486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6117336" y="5074920"/>
            <a:ext cx="512064" cy="5486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85800" y="5806440"/>
            <a:ext cx="6035040" cy="365760"/>
          </a:xfrm>
          <a:prstGeom prst="rect">
            <a:avLst/>
          </a:prstGeom>
          <a:noFill/>
        </p:spPr>
        <p:txBody>
          <a:bodyPr wrap="square" lIns="0" rIns="0" tIns="0" bIns="0" anchor="t">
            <a:spAutoFit/>
          </a:bodyPr>
          <a:lstStyle/>
          <a:p>
            <a:pPr algn="l">
              <a:spcAft>
                <a:spcPts val="0"/>
              </a:spcAft>
            </a:pPr>
            <a:r>
              <a:rPr sz="1200" b="0" i="0">
                <a:solidFill>
                  <a:srgbClr val="5F6B7A"/>
                </a:solidFill>
                <a:latin typeface="Calibri"/>
              </a:rPr>
              <a:t>One square = one identifier · outcome identical in all three sessions</a:t>
            </a:r>
          </a:p>
        </p:txBody>
      </p:sp>
      <p:sp>
        <p:nvSpPr>
          <p:cNvPr id="66" name="Rectangle 65"/>
          <p:cNvSpPr/>
          <p:nvPr/>
        </p:nvSpPr>
        <p:spPr>
          <a:xfrm>
            <a:off x="6995160" y="1920239"/>
            <a:ext cx="292608" cy="292608"/>
          </a:xfrm>
          <a:prstGeom prst="rect">
            <a:avLst/>
          </a:prstGeom>
          <a:solidFill>
            <a:srgbClr val="2F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452360" y="1874519"/>
            <a:ext cx="4206240" cy="914400"/>
          </a:xfrm>
          <a:prstGeom prst="rect">
            <a:avLst/>
          </a:prstGeom>
          <a:noFill/>
        </p:spPr>
        <p:txBody>
          <a:bodyPr wrap="square" lIns="0" rIns="0" tIns="0" bIns="0" anchor="t">
            <a:spAutoFit/>
          </a:bodyPr>
          <a:lstStyle/>
          <a:p>
            <a:pPr algn="l">
              <a:lnSpc>
                <a:spcPct val="95000"/>
              </a:lnSpc>
              <a:spcAft>
                <a:spcPts val="0"/>
              </a:spcAft>
            </a:pPr>
            <a:r>
              <a:rPr sz="1600" b="1" i="0">
                <a:solidFill>
                  <a:srgbClr val="1B2430"/>
                </a:solidFill>
                <a:latin typeface="Calibri"/>
              </a:rPr>
              <a:t>49  answered with a usable value</a:t>
            </a:r>
          </a:p>
          <a:p>
            <a:pPr algn="l">
              <a:lnSpc>
                <a:spcPct val="95000"/>
              </a:lnSpc>
              <a:spcAft>
                <a:spcPts val="0"/>
              </a:spcAft>
            </a:pPr>
            <a:r>
              <a:rPr sz="1350" b="0" i="0">
                <a:solidFill>
                  <a:srgbClr val="5F6B7A"/>
                </a:solidFill>
                <a:latin typeface="Calibri"/>
              </a:rPr>
              <a:t>47 from the BMS, 2 from drive unit and climate</a:t>
            </a:r>
          </a:p>
        </p:txBody>
      </p:sp>
      <p:sp>
        <p:nvSpPr>
          <p:cNvPr id="68" name="Rectangle 67"/>
          <p:cNvSpPr/>
          <p:nvPr/>
        </p:nvSpPr>
        <p:spPr>
          <a:xfrm>
            <a:off x="6995160" y="2880359"/>
            <a:ext cx="292608" cy="292608"/>
          </a:xfrm>
          <a:prstGeom prst="rect">
            <a:avLst/>
          </a:prstGeom>
          <a:solidFill>
            <a:srgbClr val="B9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452360" y="2834639"/>
            <a:ext cx="4206240" cy="914400"/>
          </a:xfrm>
          <a:prstGeom prst="rect">
            <a:avLst/>
          </a:prstGeom>
          <a:noFill/>
        </p:spPr>
        <p:txBody>
          <a:bodyPr wrap="square" lIns="0" rIns="0" tIns="0" bIns="0" anchor="t">
            <a:spAutoFit/>
          </a:bodyPr>
          <a:lstStyle/>
          <a:p>
            <a:pPr algn="l">
              <a:lnSpc>
                <a:spcPct val="95000"/>
              </a:lnSpc>
              <a:spcAft>
                <a:spcPts val="0"/>
              </a:spcAft>
            </a:pPr>
            <a:r>
              <a:rPr sz="1600" b="1" i="0">
                <a:solidFill>
                  <a:srgbClr val="1B2430"/>
                </a:solidFill>
                <a:latin typeface="Calibri"/>
              </a:rPr>
              <a:t>3  answered “not available”</a:t>
            </a:r>
          </a:p>
          <a:p>
            <a:pPr algn="l">
              <a:lnSpc>
                <a:spcPct val="95000"/>
              </a:lnSpc>
              <a:spcAft>
                <a:spcPts val="0"/>
              </a:spcAft>
            </a:pPr>
            <a:r>
              <a:rPr sz="1350" b="0" i="0">
                <a:solidFill>
                  <a:srgbClr val="5F6B7A"/>
                </a:solidFill>
                <a:latin typeface="Calibri"/>
              </a:rPr>
              <a:t>code 0x0FFE: an empty cell slot, explained on slide 12</a:t>
            </a:r>
          </a:p>
        </p:txBody>
      </p:sp>
      <p:sp>
        <p:nvSpPr>
          <p:cNvPr id="70" name="Rectangle 69"/>
          <p:cNvSpPr/>
          <p:nvPr/>
        </p:nvSpPr>
        <p:spPr>
          <a:xfrm>
            <a:off x="6995160" y="3840480"/>
            <a:ext cx="292608" cy="292608"/>
          </a:xfrm>
          <a:prstGeom prst="rect">
            <a:avLst/>
          </a:prstGeom>
          <a:solidFill>
            <a:srgbClr val="E06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452360" y="3794760"/>
            <a:ext cx="4206240" cy="914400"/>
          </a:xfrm>
          <a:prstGeom prst="rect">
            <a:avLst/>
          </a:prstGeom>
          <a:noFill/>
        </p:spPr>
        <p:txBody>
          <a:bodyPr wrap="square" lIns="0" rIns="0" tIns="0" bIns="0" anchor="t">
            <a:spAutoFit/>
          </a:bodyPr>
          <a:lstStyle/>
          <a:p>
            <a:pPr algn="l">
              <a:lnSpc>
                <a:spcPct val="95000"/>
              </a:lnSpc>
              <a:spcAft>
                <a:spcPts val="0"/>
              </a:spcAft>
            </a:pPr>
            <a:r>
              <a:rPr sz="1600" b="1" i="0">
                <a:solidFill>
                  <a:srgbClr val="1B2430"/>
                </a:solidFill>
                <a:latin typeface="Calibri"/>
              </a:rPr>
              <a:t>6  only the first piece arrived</a:t>
            </a:r>
          </a:p>
          <a:p>
            <a:pPr algn="l">
              <a:lnSpc>
                <a:spcPct val="95000"/>
              </a:lnSpc>
              <a:spcAft>
                <a:spcPts val="0"/>
              </a:spcAft>
            </a:pPr>
            <a:r>
              <a:rPr sz="1350" b="0" i="0">
                <a:solidFill>
                  <a:srgbClr val="5F6B7A"/>
                </a:solidFill>
                <a:latin typeface="Calibri"/>
              </a:rPr>
              <a:t>answer &gt; 7 bytes; the logger cannot ask for the rest</a:t>
            </a:r>
          </a:p>
        </p:txBody>
      </p:sp>
      <p:sp>
        <p:nvSpPr>
          <p:cNvPr id="72" name="Rectangle 71"/>
          <p:cNvSpPr/>
          <p:nvPr/>
        </p:nvSpPr>
        <p:spPr>
          <a:xfrm>
            <a:off x="6995160" y="4800600"/>
            <a:ext cx="292608" cy="292608"/>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452360" y="4754880"/>
            <a:ext cx="4206240" cy="914400"/>
          </a:xfrm>
          <a:prstGeom prst="rect">
            <a:avLst/>
          </a:prstGeom>
          <a:noFill/>
        </p:spPr>
        <p:txBody>
          <a:bodyPr wrap="square" lIns="0" rIns="0" tIns="0" bIns="0" anchor="t">
            <a:spAutoFit/>
          </a:bodyPr>
          <a:lstStyle/>
          <a:p>
            <a:pPr algn="l">
              <a:lnSpc>
                <a:spcPct val="95000"/>
              </a:lnSpc>
              <a:spcAft>
                <a:spcPts val="0"/>
              </a:spcAft>
            </a:pPr>
            <a:r>
              <a:rPr sz="1600" b="1" i="0">
                <a:solidFill>
                  <a:srgbClr val="1B2430"/>
                </a:solidFill>
                <a:latin typeface="Calibri"/>
              </a:rPr>
              <a:t>2  no answer at all</a:t>
            </a:r>
          </a:p>
          <a:p>
            <a:pPr algn="l">
              <a:lnSpc>
                <a:spcPct val="95000"/>
              </a:lnSpc>
              <a:spcAft>
                <a:spcPts val="0"/>
              </a:spcAft>
            </a:pPr>
            <a:r>
              <a:rPr sz="1350" b="0" i="0">
                <a:solidFill>
                  <a:srgbClr val="5F6B7A"/>
                </a:solidFill>
                <a:latin typeface="Calibri"/>
              </a:rPr>
              <a:t>gateway identifiers, queried without a diagnostic session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8229600" cy="274320"/>
          </a:xfrm>
          <a:prstGeom prst="rect">
            <a:avLst/>
          </a:prstGeom>
          <a:noFill/>
        </p:spPr>
        <p:txBody>
          <a:bodyPr wrap="square" lIns="0" rIns="0" tIns="0" bIns="0" anchor="t">
            <a:spAutoFit/>
          </a:bodyPr>
          <a:lstStyle/>
          <a:p>
            <a:pPr algn="l">
              <a:spcAft>
                <a:spcPts val="0"/>
              </a:spcAft>
            </a:pPr>
            <a:r>
              <a:rPr sz="1100" b="0" i="0">
                <a:solidFill>
                  <a:srgbClr val="2F7F72"/>
                </a:solidFill>
                <a:latin typeface="Bahnschrift SemiBold"/>
              </a:rPr>
              <a:t>RESEARCH QUESTION 3 · DECODING</a:t>
            </a:r>
          </a:p>
        </p:txBody>
      </p:sp>
      <p:sp>
        <p:nvSpPr>
          <p:cNvPr id="3" name="TextBox 2"/>
          <p:cNvSpPr txBox="1"/>
          <p:nvPr/>
        </p:nvSpPr>
        <p:spPr>
          <a:xfrm>
            <a:off x="594360" y="658368"/>
            <a:ext cx="10972800" cy="1051560"/>
          </a:xfrm>
          <a:prstGeom prst="rect">
            <a:avLst/>
          </a:prstGeom>
          <a:noFill/>
        </p:spPr>
        <p:txBody>
          <a:bodyPr wrap="square" lIns="0" rIns="0" tIns="0" bIns="0" anchor="t">
            <a:spAutoFit/>
          </a:bodyPr>
          <a:lstStyle/>
          <a:p>
            <a:pPr algn="l">
              <a:lnSpc>
                <a:spcPct val="95000"/>
              </a:lnSpc>
              <a:spcAft>
                <a:spcPts val="0"/>
              </a:spcAft>
            </a:pPr>
            <a:r>
              <a:rPr sz="2700" b="0" i="0">
                <a:solidFill>
                  <a:srgbClr val="1B2430"/>
                </a:solidFill>
                <a:latin typeface="Bahnschrift SemiBold"/>
              </a:rPr>
              <a:t>One answer, decoded byte by byte, gives the voltage of the whole battery pack: 373.25 V</a:t>
            </a:r>
          </a:p>
        </p:txBody>
      </p:sp>
      <p:sp>
        <p:nvSpPr>
          <p:cNvPr id="4" name="TextBox 3"/>
          <p:cNvSpPr txBox="1"/>
          <p:nvPr/>
        </p:nvSpPr>
        <p:spPr>
          <a:xfrm>
            <a:off x="10972800" y="6419088"/>
            <a:ext cx="621792" cy="228600"/>
          </a:xfrm>
          <a:prstGeom prst="rect">
            <a:avLst/>
          </a:prstGeom>
          <a:noFill/>
        </p:spPr>
        <p:txBody>
          <a:bodyPr wrap="square" lIns="0" rIns="0" tIns="0" bIns="0" anchor="t">
            <a:spAutoFit/>
          </a:bodyPr>
          <a:lstStyle/>
          <a:p>
            <a:pPr algn="r">
              <a:spcAft>
                <a:spcPts val="0"/>
              </a:spcAft>
            </a:pPr>
            <a:r>
              <a:rPr sz="1000" b="0" i="0">
                <a:solidFill>
                  <a:srgbClr val="5F6B7A"/>
                </a:solidFill>
                <a:latin typeface="Calibri"/>
              </a:rPr>
              <a:t>10 / 15</a:t>
            </a:r>
          </a:p>
        </p:txBody>
      </p:sp>
      <p:sp>
        <p:nvSpPr>
          <p:cNvPr id="5" name="TextBox 4"/>
          <p:cNvSpPr txBox="1"/>
          <p:nvPr/>
        </p:nvSpPr>
        <p:spPr>
          <a:xfrm>
            <a:off x="594360" y="1783080"/>
            <a:ext cx="2743200" cy="274320"/>
          </a:xfrm>
          <a:prstGeom prst="rect">
            <a:avLst/>
          </a:prstGeom>
          <a:noFill/>
        </p:spPr>
        <p:txBody>
          <a:bodyPr wrap="square" lIns="0" rIns="0" tIns="0" bIns="0" anchor="t">
            <a:spAutoFit/>
          </a:bodyPr>
          <a:lstStyle/>
          <a:p>
            <a:pPr algn="l">
              <a:spcAft>
                <a:spcPts val="0"/>
              </a:spcAft>
            </a:pPr>
            <a:r>
              <a:rPr sz="1100" b="0" i="0">
                <a:solidFill>
                  <a:srgbClr val="5F6B7A"/>
                </a:solidFill>
                <a:latin typeface="Bahnschrift SemiBold"/>
              </a:rPr>
              <a:t>QUESTION</a:t>
            </a:r>
          </a:p>
        </p:txBody>
      </p:sp>
      <p:sp>
        <p:nvSpPr>
          <p:cNvPr id="6" name="Rectangle 5"/>
          <p:cNvSpPr/>
          <p:nvPr/>
        </p:nvSpPr>
        <p:spPr>
          <a:xfrm>
            <a:off x="594360" y="2103120"/>
            <a:ext cx="566928" cy="566928"/>
          </a:xfrm>
          <a:prstGeom prst="rect">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2000" b="1">
                <a:solidFill>
                  <a:srgbClr val="1B2430"/>
                </a:solidFill>
                <a:latin typeface="Consolas"/>
              </a:rPr>
              <a:t>03</a:t>
            </a:r>
          </a:p>
        </p:txBody>
      </p:sp>
      <p:sp>
        <p:nvSpPr>
          <p:cNvPr id="7" name="TextBox 6"/>
          <p:cNvSpPr txBox="1"/>
          <p:nvPr/>
        </p:nvSpPr>
        <p:spPr>
          <a:xfrm>
            <a:off x="214884" y="2761488"/>
            <a:ext cx="1325880" cy="822960"/>
          </a:xfrm>
          <a:prstGeom prst="rect">
            <a:avLst/>
          </a:prstGeom>
          <a:noFill/>
        </p:spPr>
        <p:txBody>
          <a:bodyPr wrap="square" lIns="0" rIns="0" tIns="0" bIns="0" anchor="t">
            <a:spAutoFit/>
          </a:bodyPr>
          <a:lstStyle/>
          <a:p>
            <a:pPr algn="ctr">
              <a:lnSpc>
                <a:spcPct val="95000"/>
              </a:lnSpc>
              <a:spcAft>
                <a:spcPts val="0"/>
              </a:spcAft>
            </a:pPr>
            <a:r>
              <a:rPr sz="1250" b="0" i="0">
                <a:solidFill>
                  <a:srgbClr val="5F6B7A"/>
                </a:solidFill>
                <a:latin typeface="Calibri"/>
              </a:rPr>
              <a:t>3 bytes
follow</a:t>
            </a:r>
          </a:p>
        </p:txBody>
      </p:sp>
      <p:sp>
        <p:nvSpPr>
          <p:cNvPr id="8" name="Rectangle 7"/>
          <p:cNvSpPr/>
          <p:nvPr/>
        </p:nvSpPr>
        <p:spPr>
          <a:xfrm>
            <a:off x="1325880" y="2103120"/>
            <a:ext cx="566928" cy="566928"/>
          </a:xfrm>
          <a:prstGeom prst="rect">
            <a:avLst/>
          </a:prstGeom>
          <a:solidFill>
            <a:srgbClr val="2F7F7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2000" b="1">
                <a:solidFill>
                  <a:srgbClr val="FFFFFF"/>
                </a:solidFill>
                <a:latin typeface="Consolas"/>
              </a:rPr>
              <a:t>22</a:t>
            </a:r>
          </a:p>
        </p:txBody>
      </p:sp>
      <p:sp>
        <p:nvSpPr>
          <p:cNvPr id="9" name="TextBox 8"/>
          <p:cNvSpPr txBox="1"/>
          <p:nvPr/>
        </p:nvSpPr>
        <p:spPr>
          <a:xfrm>
            <a:off x="946404" y="2761488"/>
            <a:ext cx="1325880" cy="822960"/>
          </a:xfrm>
          <a:prstGeom prst="rect">
            <a:avLst/>
          </a:prstGeom>
          <a:noFill/>
        </p:spPr>
        <p:txBody>
          <a:bodyPr wrap="square" lIns="0" rIns="0" tIns="0" bIns="0" anchor="t">
            <a:spAutoFit/>
          </a:bodyPr>
          <a:lstStyle/>
          <a:p>
            <a:pPr algn="ctr">
              <a:lnSpc>
                <a:spcPct val="95000"/>
              </a:lnSpc>
              <a:spcAft>
                <a:spcPts val="0"/>
              </a:spcAft>
            </a:pPr>
            <a:r>
              <a:rPr sz="1250" b="0" i="0">
                <a:solidFill>
                  <a:srgbClr val="2F7F72"/>
                </a:solidFill>
                <a:latin typeface="Calibri"/>
              </a:rPr>
              <a:t>read data</a:t>
            </a:r>
          </a:p>
        </p:txBody>
      </p:sp>
      <p:sp>
        <p:nvSpPr>
          <p:cNvPr id="10" name="Rectangle 9"/>
          <p:cNvSpPr/>
          <p:nvPr/>
        </p:nvSpPr>
        <p:spPr>
          <a:xfrm>
            <a:off x="2057400" y="2103120"/>
            <a:ext cx="1188720" cy="566928"/>
          </a:xfrm>
          <a:prstGeom prst="rect">
            <a:avLst/>
          </a:prstGeom>
          <a:solidFill>
            <a:srgbClr val="2F7F7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2000" b="1">
                <a:solidFill>
                  <a:srgbClr val="FFFFFF"/>
                </a:solidFill>
                <a:latin typeface="Consolas"/>
              </a:rPr>
              <a:t>1E 3B</a:t>
            </a:r>
          </a:p>
        </p:txBody>
      </p:sp>
      <p:sp>
        <p:nvSpPr>
          <p:cNvPr id="11" name="TextBox 10"/>
          <p:cNvSpPr txBox="1"/>
          <p:nvPr/>
        </p:nvSpPr>
        <p:spPr>
          <a:xfrm>
            <a:off x="1984248" y="2761488"/>
            <a:ext cx="1335024" cy="822960"/>
          </a:xfrm>
          <a:prstGeom prst="rect">
            <a:avLst/>
          </a:prstGeom>
          <a:noFill/>
        </p:spPr>
        <p:txBody>
          <a:bodyPr wrap="square" lIns="0" rIns="0" tIns="0" bIns="0" anchor="t">
            <a:spAutoFit/>
          </a:bodyPr>
          <a:lstStyle/>
          <a:p>
            <a:pPr algn="ctr">
              <a:lnSpc>
                <a:spcPct val="95000"/>
              </a:lnSpc>
              <a:spcAft>
                <a:spcPts val="0"/>
              </a:spcAft>
            </a:pPr>
            <a:r>
              <a:rPr sz="1250" b="0" i="0">
                <a:solidFill>
                  <a:srgbClr val="2F7F72"/>
                </a:solidFill>
                <a:latin typeface="Calibri"/>
              </a:rPr>
              <a:t>which value</a:t>
            </a:r>
          </a:p>
        </p:txBody>
      </p:sp>
      <p:sp>
        <p:nvSpPr>
          <p:cNvPr id="12" name="Rectangle 11"/>
          <p:cNvSpPr/>
          <p:nvPr/>
        </p:nvSpPr>
        <p:spPr>
          <a:xfrm>
            <a:off x="3410712" y="2103120"/>
            <a:ext cx="2432304" cy="566928"/>
          </a:xfrm>
          <a:prstGeom prst="rect">
            <a:avLst/>
          </a:prstGeom>
          <a:noFill/>
          <a:ln w="12700">
            <a:solidFill>
              <a:srgbClr val="D9DEE4"/>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2000" b="1">
                <a:solidFill>
                  <a:srgbClr val="5F6B7A"/>
                </a:solidFill>
                <a:latin typeface="Consolas"/>
              </a:rPr>
              <a:t>55 55 55 55</a:t>
            </a:r>
          </a:p>
        </p:txBody>
      </p:sp>
      <p:sp>
        <p:nvSpPr>
          <p:cNvPr id="13" name="TextBox 12"/>
          <p:cNvSpPr txBox="1"/>
          <p:nvPr/>
        </p:nvSpPr>
        <p:spPr>
          <a:xfrm>
            <a:off x="3337560" y="2761488"/>
            <a:ext cx="2578608" cy="822960"/>
          </a:xfrm>
          <a:prstGeom prst="rect">
            <a:avLst/>
          </a:prstGeom>
          <a:noFill/>
        </p:spPr>
        <p:txBody>
          <a:bodyPr wrap="square" lIns="0" rIns="0" tIns="0" bIns="0" anchor="t">
            <a:spAutoFit/>
          </a:bodyPr>
          <a:lstStyle/>
          <a:p>
            <a:pPr algn="ctr">
              <a:lnSpc>
                <a:spcPct val="95000"/>
              </a:lnSpc>
              <a:spcAft>
                <a:spcPts val="0"/>
              </a:spcAft>
            </a:pPr>
            <a:r>
              <a:rPr sz="1250" b="0" i="0">
                <a:solidFill>
                  <a:srgbClr val="5F6B7A"/>
                </a:solidFill>
                <a:latin typeface="Calibri"/>
              </a:rPr>
              <a:t>padding</a:t>
            </a:r>
          </a:p>
        </p:txBody>
      </p:sp>
      <p:sp>
        <p:nvSpPr>
          <p:cNvPr id="14" name="TextBox 13"/>
          <p:cNvSpPr txBox="1"/>
          <p:nvPr/>
        </p:nvSpPr>
        <p:spPr>
          <a:xfrm>
            <a:off x="594360" y="3520440"/>
            <a:ext cx="2743200" cy="274320"/>
          </a:xfrm>
          <a:prstGeom prst="rect">
            <a:avLst/>
          </a:prstGeom>
          <a:noFill/>
        </p:spPr>
        <p:txBody>
          <a:bodyPr wrap="square" lIns="0" rIns="0" tIns="0" bIns="0" anchor="t">
            <a:spAutoFit/>
          </a:bodyPr>
          <a:lstStyle/>
          <a:p>
            <a:pPr algn="l">
              <a:spcAft>
                <a:spcPts val="0"/>
              </a:spcAft>
            </a:pPr>
            <a:r>
              <a:rPr sz="1100" b="0" i="0">
                <a:solidFill>
                  <a:srgbClr val="5F6B7A"/>
                </a:solidFill>
                <a:latin typeface="Bahnschrift SemiBold"/>
              </a:rPr>
              <a:t>ANSWER</a:t>
            </a:r>
          </a:p>
        </p:txBody>
      </p:sp>
      <p:sp>
        <p:nvSpPr>
          <p:cNvPr id="15" name="Rectangle 14"/>
          <p:cNvSpPr/>
          <p:nvPr/>
        </p:nvSpPr>
        <p:spPr>
          <a:xfrm>
            <a:off x="594360" y="3840480"/>
            <a:ext cx="566928" cy="566928"/>
          </a:xfrm>
          <a:prstGeom prst="rect">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2000" b="1">
                <a:solidFill>
                  <a:srgbClr val="1B2430"/>
                </a:solidFill>
                <a:latin typeface="Consolas"/>
              </a:rPr>
              <a:t>05</a:t>
            </a:r>
          </a:p>
        </p:txBody>
      </p:sp>
      <p:sp>
        <p:nvSpPr>
          <p:cNvPr id="16" name="TextBox 15"/>
          <p:cNvSpPr txBox="1"/>
          <p:nvPr/>
        </p:nvSpPr>
        <p:spPr>
          <a:xfrm>
            <a:off x="214884" y="4498848"/>
            <a:ext cx="1325880" cy="822960"/>
          </a:xfrm>
          <a:prstGeom prst="rect">
            <a:avLst/>
          </a:prstGeom>
          <a:noFill/>
        </p:spPr>
        <p:txBody>
          <a:bodyPr wrap="square" lIns="0" rIns="0" tIns="0" bIns="0" anchor="t">
            <a:spAutoFit/>
          </a:bodyPr>
          <a:lstStyle/>
          <a:p>
            <a:pPr algn="ctr">
              <a:lnSpc>
                <a:spcPct val="95000"/>
              </a:lnSpc>
              <a:spcAft>
                <a:spcPts val="0"/>
              </a:spcAft>
            </a:pPr>
            <a:r>
              <a:rPr sz="1250" b="0" i="0">
                <a:solidFill>
                  <a:srgbClr val="5F6B7A"/>
                </a:solidFill>
                <a:latin typeface="Calibri"/>
              </a:rPr>
              <a:t>5 bytes
follow</a:t>
            </a:r>
          </a:p>
        </p:txBody>
      </p:sp>
      <p:sp>
        <p:nvSpPr>
          <p:cNvPr id="17" name="Rectangle 16"/>
          <p:cNvSpPr/>
          <p:nvPr/>
        </p:nvSpPr>
        <p:spPr>
          <a:xfrm>
            <a:off x="1325880" y="3840480"/>
            <a:ext cx="566928" cy="566928"/>
          </a:xfrm>
          <a:prstGeom prst="rect">
            <a:avLst/>
          </a:prstGeom>
          <a:solidFill>
            <a:srgbClr val="E06A1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2000" b="1">
                <a:solidFill>
                  <a:srgbClr val="FFFFFF"/>
                </a:solidFill>
                <a:latin typeface="Consolas"/>
              </a:rPr>
              <a:t>62</a:t>
            </a:r>
          </a:p>
        </p:txBody>
      </p:sp>
      <p:sp>
        <p:nvSpPr>
          <p:cNvPr id="18" name="TextBox 17"/>
          <p:cNvSpPr txBox="1"/>
          <p:nvPr/>
        </p:nvSpPr>
        <p:spPr>
          <a:xfrm>
            <a:off x="946404" y="4498848"/>
            <a:ext cx="1325880" cy="822960"/>
          </a:xfrm>
          <a:prstGeom prst="rect">
            <a:avLst/>
          </a:prstGeom>
          <a:noFill/>
        </p:spPr>
        <p:txBody>
          <a:bodyPr wrap="square" lIns="0" rIns="0" tIns="0" bIns="0" anchor="t">
            <a:spAutoFit/>
          </a:bodyPr>
          <a:lstStyle/>
          <a:p>
            <a:pPr algn="ctr">
              <a:lnSpc>
                <a:spcPct val="95000"/>
              </a:lnSpc>
              <a:spcAft>
                <a:spcPts val="0"/>
              </a:spcAft>
            </a:pPr>
            <a:r>
              <a:rPr sz="1250" b="0" i="0">
                <a:solidFill>
                  <a:srgbClr val="E06A1B"/>
                </a:solidFill>
                <a:latin typeface="Calibri"/>
              </a:rPr>
              <a:t>positive
reply</a:t>
            </a:r>
          </a:p>
        </p:txBody>
      </p:sp>
      <p:sp>
        <p:nvSpPr>
          <p:cNvPr id="19" name="Rectangle 18"/>
          <p:cNvSpPr/>
          <p:nvPr/>
        </p:nvSpPr>
        <p:spPr>
          <a:xfrm>
            <a:off x="2057400" y="3840480"/>
            <a:ext cx="1188720" cy="566928"/>
          </a:xfrm>
          <a:prstGeom prst="rect">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2000" b="1">
                <a:solidFill>
                  <a:srgbClr val="1B2430"/>
                </a:solidFill>
                <a:latin typeface="Consolas"/>
              </a:rPr>
              <a:t>1E 3B</a:t>
            </a:r>
          </a:p>
        </p:txBody>
      </p:sp>
      <p:sp>
        <p:nvSpPr>
          <p:cNvPr id="20" name="TextBox 19"/>
          <p:cNvSpPr txBox="1"/>
          <p:nvPr/>
        </p:nvSpPr>
        <p:spPr>
          <a:xfrm>
            <a:off x="1984248" y="4498848"/>
            <a:ext cx="1335024" cy="822960"/>
          </a:xfrm>
          <a:prstGeom prst="rect">
            <a:avLst/>
          </a:prstGeom>
          <a:noFill/>
        </p:spPr>
        <p:txBody>
          <a:bodyPr wrap="square" lIns="0" rIns="0" tIns="0" bIns="0" anchor="t">
            <a:spAutoFit/>
          </a:bodyPr>
          <a:lstStyle/>
          <a:p>
            <a:pPr algn="ctr">
              <a:lnSpc>
                <a:spcPct val="95000"/>
              </a:lnSpc>
              <a:spcAft>
                <a:spcPts val="0"/>
              </a:spcAft>
            </a:pPr>
            <a:r>
              <a:rPr sz="1250" b="0" i="0">
                <a:solidFill>
                  <a:srgbClr val="5F6B7A"/>
                </a:solidFill>
                <a:latin typeface="Calibri"/>
              </a:rPr>
              <a:t>echo</a:t>
            </a:r>
          </a:p>
        </p:txBody>
      </p:sp>
      <p:sp>
        <p:nvSpPr>
          <p:cNvPr id="21" name="Rectangle 20"/>
          <p:cNvSpPr/>
          <p:nvPr/>
        </p:nvSpPr>
        <p:spPr>
          <a:xfrm>
            <a:off x="3410712" y="3840480"/>
            <a:ext cx="1188720" cy="566928"/>
          </a:xfrm>
          <a:prstGeom prst="rect">
            <a:avLst/>
          </a:prstGeom>
          <a:solidFill>
            <a:srgbClr val="E06A1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2000" b="1">
                <a:solidFill>
                  <a:srgbClr val="FFFFFF"/>
                </a:solidFill>
                <a:latin typeface="Consolas"/>
              </a:rPr>
              <a:t>05 D5</a:t>
            </a:r>
          </a:p>
        </p:txBody>
      </p:sp>
      <p:sp>
        <p:nvSpPr>
          <p:cNvPr id="22" name="TextBox 21"/>
          <p:cNvSpPr txBox="1"/>
          <p:nvPr/>
        </p:nvSpPr>
        <p:spPr>
          <a:xfrm>
            <a:off x="3337560" y="4498848"/>
            <a:ext cx="1335024" cy="822960"/>
          </a:xfrm>
          <a:prstGeom prst="rect">
            <a:avLst/>
          </a:prstGeom>
          <a:noFill/>
        </p:spPr>
        <p:txBody>
          <a:bodyPr wrap="square" lIns="0" rIns="0" tIns="0" bIns="0" anchor="t">
            <a:spAutoFit/>
          </a:bodyPr>
          <a:lstStyle/>
          <a:p>
            <a:pPr algn="ctr">
              <a:lnSpc>
                <a:spcPct val="95000"/>
              </a:lnSpc>
              <a:spcAft>
                <a:spcPts val="0"/>
              </a:spcAft>
            </a:pPr>
            <a:r>
              <a:rPr sz="1250" b="0" i="0">
                <a:solidFill>
                  <a:srgbClr val="E06A1B"/>
                </a:solidFill>
                <a:latin typeface="Calibri"/>
              </a:rPr>
              <a:t>the value</a:t>
            </a:r>
          </a:p>
        </p:txBody>
      </p:sp>
      <p:sp>
        <p:nvSpPr>
          <p:cNvPr id="23" name="Rectangle 22"/>
          <p:cNvSpPr/>
          <p:nvPr/>
        </p:nvSpPr>
        <p:spPr>
          <a:xfrm>
            <a:off x="4764024" y="3840480"/>
            <a:ext cx="1188720" cy="566928"/>
          </a:xfrm>
          <a:prstGeom prst="rect">
            <a:avLst/>
          </a:prstGeom>
          <a:noFill/>
          <a:ln w="12700">
            <a:solidFill>
              <a:srgbClr val="D9DEE4"/>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2000" b="1">
                <a:solidFill>
                  <a:srgbClr val="5F6B7A"/>
                </a:solidFill>
                <a:latin typeface="Consolas"/>
              </a:rPr>
              <a:t>aa aa</a:t>
            </a:r>
          </a:p>
        </p:txBody>
      </p:sp>
      <p:sp>
        <p:nvSpPr>
          <p:cNvPr id="24" name="TextBox 23"/>
          <p:cNvSpPr txBox="1"/>
          <p:nvPr/>
        </p:nvSpPr>
        <p:spPr>
          <a:xfrm>
            <a:off x="4690872" y="4498848"/>
            <a:ext cx="1335024" cy="822960"/>
          </a:xfrm>
          <a:prstGeom prst="rect">
            <a:avLst/>
          </a:prstGeom>
          <a:noFill/>
        </p:spPr>
        <p:txBody>
          <a:bodyPr wrap="square" lIns="0" rIns="0" tIns="0" bIns="0" anchor="t">
            <a:spAutoFit/>
          </a:bodyPr>
          <a:lstStyle/>
          <a:p>
            <a:pPr algn="ctr">
              <a:lnSpc>
                <a:spcPct val="95000"/>
              </a:lnSpc>
              <a:spcAft>
                <a:spcPts val="0"/>
              </a:spcAft>
            </a:pPr>
            <a:r>
              <a:rPr sz="1250" b="0" i="0">
                <a:solidFill>
                  <a:srgbClr val="5F6B7A"/>
                </a:solidFill>
                <a:latin typeface="Calibri"/>
              </a:rPr>
              <a:t>unused</a:t>
            </a:r>
          </a:p>
        </p:txBody>
      </p:sp>
      <p:sp>
        <p:nvSpPr>
          <p:cNvPr id="25" name="TextBox 24"/>
          <p:cNvSpPr txBox="1"/>
          <p:nvPr/>
        </p:nvSpPr>
        <p:spPr>
          <a:xfrm>
            <a:off x="594360" y="5257800"/>
            <a:ext cx="6583680" cy="822960"/>
          </a:xfrm>
          <a:prstGeom prst="rect">
            <a:avLst/>
          </a:prstGeom>
          <a:noFill/>
        </p:spPr>
        <p:txBody>
          <a:bodyPr wrap="square" lIns="0" rIns="0" tIns="0" bIns="0" anchor="t">
            <a:spAutoFit/>
          </a:bodyPr>
          <a:lstStyle/>
          <a:p>
            <a:pPr algn="l">
              <a:spcAft>
                <a:spcPts val="0"/>
              </a:spcAft>
            </a:pPr>
            <a:r>
              <a:rPr sz="2200" b="0" i="0">
                <a:solidFill>
                  <a:srgbClr val="1B2430"/>
                </a:solidFill>
                <a:latin typeface="Consolas"/>
              </a:rPr>
              <a:t>0x05D5 = 1493   →   1493 / 4 = </a:t>
            </a:r>
            <a:r>
              <a:rPr sz="2200" b="1" i="0">
                <a:solidFill>
                  <a:srgbClr val="E06A1B"/>
                </a:solidFill>
                <a:latin typeface="Consolas"/>
              </a:rPr>
              <a:t>373.25 V</a:t>
            </a:r>
          </a:p>
        </p:txBody>
      </p:sp>
      <p:sp>
        <p:nvSpPr>
          <p:cNvPr id="26" name="Rectangle 25"/>
          <p:cNvSpPr/>
          <p:nvPr/>
        </p:nvSpPr>
        <p:spPr>
          <a:xfrm>
            <a:off x="7589520" y="1783080"/>
            <a:ext cx="4023360" cy="4389120"/>
          </a:xfrm>
          <a:prstGeom prst="rect">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0" y="1920240"/>
            <a:ext cx="3657600" cy="274320"/>
          </a:xfrm>
          <a:prstGeom prst="rect">
            <a:avLst/>
          </a:prstGeom>
          <a:noFill/>
        </p:spPr>
        <p:txBody>
          <a:bodyPr wrap="square" lIns="0" rIns="0" tIns="0" bIns="0" anchor="t">
            <a:spAutoFit/>
          </a:bodyPr>
          <a:lstStyle/>
          <a:p>
            <a:pPr algn="l">
              <a:spcAft>
                <a:spcPts val="0"/>
              </a:spcAft>
            </a:pPr>
            <a:r>
              <a:rPr sz="1100" b="0" i="0">
                <a:solidFill>
                  <a:srgbClr val="5F6B7A"/>
                </a:solidFill>
                <a:latin typeface="Bahnschrift SemiBold"/>
              </a:rPr>
              <a:t>SAME SESSION, OTHER VALUES</a:t>
            </a:r>
          </a:p>
        </p:txBody>
      </p:sp>
      <p:sp>
        <p:nvSpPr>
          <p:cNvPr id="28" name="TextBox 27"/>
          <p:cNvSpPr txBox="1"/>
          <p:nvPr/>
        </p:nvSpPr>
        <p:spPr>
          <a:xfrm>
            <a:off x="7772400" y="2331720"/>
            <a:ext cx="2011680" cy="457200"/>
          </a:xfrm>
          <a:prstGeom prst="rect">
            <a:avLst/>
          </a:prstGeom>
          <a:noFill/>
        </p:spPr>
        <p:txBody>
          <a:bodyPr wrap="square" lIns="0" rIns="0" tIns="0" bIns="0" anchor="t">
            <a:spAutoFit/>
          </a:bodyPr>
          <a:lstStyle/>
          <a:p>
            <a:pPr algn="l">
              <a:lnSpc>
                <a:spcPct val="90000"/>
              </a:lnSpc>
              <a:spcAft>
                <a:spcPts val="0"/>
              </a:spcAft>
            </a:pPr>
            <a:r>
              <a:rPr sz="1350" b="0" i="0">
                <a:solidFill>
                  <a:srgbClr val="1B2430"/>
                </a:solidFill>
                <a:latin typeface="Calibri"/>
              </a:rPr>
              <a:t>State of charge</a:t>
            </a:r>
          </a:p>
        </p:txBody>
      </p:sp>
      <p:sp>
        <p:nvSpPr>
          <p:cNvPr id="29" name="TextBox 28"/>
          <p:cNvSpPr txBox="1"/>
          <p:nvPr/>
        </p:nvSpPr>
        <p:spPr>
          <a:xfrm>
            <a:off x="9646920" y="2331720"/>
            <a:ext cx="1828800" cy="457200"/>
          </a:xfrm>
          <a:prstGeom prst="rect">
            <a:avLst/>
          </a:prstGeom>
          <a:noFill/>
        </p:spPr>
        <p:txBody>
          <a:bodyPr wrap="square" lIns="0" rIns="0" tIns="0" bIns="0" anchor="t">
            <a:spAutoFit/>
          </a:bodyPr>
          <a:lstStyle/>
          <a:p>
            <a:pPr algn="r">
              <a:spcAft>
                <a:spcPts val="0"/>
              </a:spcAft>
            </a:pPr>
            <a:r>
              <a:rPr sz="1350" b="1" i="0">
                <a:solidFill>
                  <a:srgbClr val="1B2430"/>
                </a:solidFill>
                <a:latin typeface="Calibri"/>
              </a:rPr>
              <a:t>72.8 – 73.2 %</a:t>
            </a:r>
          </a:p>
        </p:txBody>
      </p:sp>
      <p:sp>
        <p:nvSpPr>
          <p:cNvPr id="30" name="TextBox 29"/>
          <p:cNvSpPr txBox="1"/>
          <p:nvPr/>
        </p:nvSpPr>
        <p:spPr>
          <a:xfrm>
            <a:off x="7772400" y="2862072"/>
            <a:ext cx="2011680" cy="457200"/>
          </a:xfrm>
          <a:prstGeom prst="rect">
            <a:avLst/>
          </a:prstGeom>
          <a:noFill/>
        </p:spPr>
        <p:txBody>
          <a:bodyPr wrap="square" lIns="0" rIns="0" tIns="0" bIns="0" anchor="t">
            <a:spAutoFit/>
          </a:bodyPr>
          <a:lstStyle/>
          <a:p>
            <a:pPr algn="l">
              <a:lnSpc>
                <a:spcPct val="90000"/>
              </a:lnSpc>
              <a:spcAft>
                <a:spcPts val="0"/>
              </a:spcAft>
            </a:pPr>
            <a:r>
              <a:rPr sz="1350" b="0" i="0">
                <a:solidFill>
                  <a:srgbClr val="1B2430"/>
                </a:solidFill>
                <a:latin typeface="Calibri"/>
              </a:rPr>
              <a:t>Pack voltage</a:t>
            </a:r>
          </a:p>
        </p:txBody>
      </p:sp>
      <p:sp>
        <p:nvSpPr>
          <p:cNvPr id="31" name="TextBox 30"/>
          <p:cNvSpPr txBox="1"/>
          <p:nvPr/>
        </p:nvSpPr>
        <p:spPr>
          <a:xfrm>
            <a:off x="9646920" y="2862072"/>
            <a:ext cx="1828800" cy="457200"/>
          </a:xfrm>
          <a:prstGeom prst="rect">
            <a:avLst/>
          </a:prstGeom>
          <a:noFill/>
        </p:spPr>
        <p:txBody>
          <a:bodyPr wrap="square" lIns="0" rIns="0" tIns="0" bIns="0" anchor="t">
            <a:spAutoFit/>
          </a:bodyPr>
          <a:lstStyle/>
          <a:p>
            <a:pPr algn="r">
              <a:spcAft>
                <a:spcPts val="0"/>
              </a:spcAft>
            </a:pPr>
            <a:r>
              <a:rPr sz="1350" b="1" i="0">
                <a:solidFill>
                  <a:srgbClr val="1B2430"/>
                </a:solidFill>
                <a:latin typeface="Calibri"/>
              </a:rPr>
              <a:t>373.25 – 373.75 V</a:t>
            </a:r>
          </a:p>
        </p:txBody>
      </p:sp>
      <p:cxnSp>
        <p:nvCxnSpPr>
          <p:cNvPr id="32" name="Connector 31"/>
          <p:cNvCxnSpPr/>
          <p:nvPr/>
        </p:nvCxnSpPr>
        <p:spPr>
          <a:xfrm>
            <a:off x="7772400" y="2788920"/>
            <a:ext cx="3657600" cy="0"/>
          </a:xfrm>
          <a:prstGeom prst="line">
            <a:avLst/>
          </a:prstGeom>
          <a:ln w="9525">
            <a:solidFill>
              <a:srgbClr val="D9DEE4"/>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772400" y="3392424"/>
            <a:ext cx="2011680" cy="457200"/>
          </a:xfrm>
          <a:prstGeom prst="rect">
            <a:avLst/>
          </a:prstGeom>
          <a:noFill/>
        </p:spPr>
        <p:txBody>
          <a:bodyPr wrap="square" lIns="0" rIns="0" tIns="0" bIns="0" anchor="t">
            <a:spAutoFit/>
          </a:bodyPr>
          <a:lstStyle/>
          <a:p>
            <a:pPr algn="l">
              <a:lnSpc>
                <a:spcPct val="90000"/>
              </a:lnSpc>
              <a:spcAft>
                <a:spcPts val="0"/>
              </a:spcAft>
            </a:pPr>
            <a:r>
              <a:rPr sz="1350" b="0" i="0">
                <a:solidFill>
                  <a:srgbClr val="1B2430"/>
                </a:solidFill>
                <a:latin typeface="Calibri"/>
              </a:rPr>
              <a:t>Cell voltage (28 sampled)</a:t>
            </a:r>
          </a:p>
        </p:txBody>
      </p:sp>
      <p:sp>
        <p:nvSpPr>
          <p:cNvPr id="34" name="TextBox 33"/>
          <p:cNvSpPr txBox="1"/>
          <p:nvPr/>
        </p:nvSpPr>
        <p:spPr>
          <a:xfrm>
            <a:off x="9646920" y="3392424"/>
            <a:ext cx="1828800" cy="457200"/>
          </a:xfrm>
          <a:prstGeom prst="rect">
            <a:avLst/>
          </a:prstGeom>
          <a:noFill/>
        </p:spPr>
        <p:txBody>
          <a:bodyPr wrap="square" lIns="0" rIns="0" tIns="0" bIns="0" anchor="t">
            <a:spAutoFit/>
          </a:bodyPr>
          <a:lstStyle/>
          <a:p>
            <a:pPr algn="r">
              <a:spcAft>
                <a:spcPts val="0"/>
              </a:spcAft>
            </a:pPr>
            <a:r>
              <a:rPr sz="1350" b="1" i="0">
                <a:solidFill>
                  <a:srgbClr val="1B2430"/>
                </a:solidFill>
                <a:latin typeface="Calibri"/>
              </a:rPr>
              <a:t>3.888 – 3.890 V</a:t>
            </a:r>
          </a:p>
        </p:txBody>
      </p:sp>
      <p:cxnSp>
        <p:nvCxnSpPr>
          <p:cNvPr id="35" name="Connector 34"/>
          <p:cNvCxnSpPr/>
          <p:nvPr/>
        </p:nvCxnSpPr>
        <p:spPr>
          <a:xfrm>
            <a:off x="7772400" y="3319272"/>
            <a:ext cx="3657600" cy="0"/>
          </a:xfrm>
          <a:prstGeom prst="line">
            <a:avLst/>
          </a:prstGeom>
          <a:ln w="9525">
            <a:solidFill>
              <a:srgbClr val="D9DEE4"/>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7772400" y="3922775"/>
            <a:ext cx="2011680" cy="457200"/>
          </a:xfrm>
          <a:prstGeom prst="rect">
            <a:avLst/>
          </a:prstGeom>
          <a:noFill/>
        </p:spPr>
        <p:txBody>
          <a:bodyPr wrap="square" lIns="0" rIns="0" tIns="0" bIns="0" anchor="t">
            <a:spAutoFit/>
          </a:bodyPr>
          <a:lstStyle/>
          <a:p>
            <a:pPr algn="l">
              <a:lnSpc>
                <a:spcPct val="90000"/>
              </a:lnSpc>
              <a:spcAft>
                <a:spcPts val="0"/>
              </a:spcAft>
            </a:pPr>
            <a:r>
              <a:rPr sz="1350" b="0" i="0">
                <a:solidFill>
                  <a:srgbClr val="1B2430"/>
                </a:solidFill>
                <a:latin typeface="Calibri"/>
              </a:rPr>
              <a:t>Battery temperature</a:t>
            </a:r>
          </a:p>
        </p:txBody>
      </p:sp>
      <p:sp>
        <p:nvSpPr>
          <p:cNvPr id="37" name="TextBox 36"/>
          <p:cNvSpPr txBox="1"/>
          <p:nvPr/>
        </p:nvSpPr>
        <p:spPr>
          <a:xfrm>
            <a:off x="9646920" y="3922775"/>
            <a:ext cx="1828800" cy="457200"/>
          </a:xfrm>
          <a:prstGeom prst="rect">
            <a:avLst/>
          </a:prstGeom>
          <a:noFill/>
        </p:spPr>
        <p:txBody>
          <a:bodyPr wrap="square" lIns="0" rIns="0" tIns="0" bIns="0" anchor="t">
            <a:spAutoFit/>
          </a:bodyPr>
          <a:lstStyle/>
          <a:p>
            <a:pPr algn="r">
              <a:spcAft>
                <a:spcPts val="0"/>
              </a:spcAft>
            </a:pPr>
            <a:r>
              <a:rPr sz="1350" b="1" i="0">
                <a:solidFill>
                  <a:srgbClr val="1B2430"/>
                </a:solidFill>
                <a:latin typeface="Calibri"/>
              </a:rPr>
              <a:t>16.0 – 16.4 °C</a:t>
            </a:r>
          </a:p>
        </p:txBody>
      </p:sp>
      <p:cxnSp>
        <p:nvCxnSpPr>
          <p:cNvPr id="38" name="Connector 37"/>
          <p:cNvCxnSpPr/>
          <p:nvPr/>
        </p:nvCxnSpPr>
        <p:spPr>
          <a:xfrm>
            <a:off x="7772400" y="3849623"/>
            <a:ext cx="3657600" cy="0"/>
          </a:xfrm>
          <a:prstGeom prst="line">
            <a:avLst/>
          </a:prstGeom>
          <a:ln w="9525">
            <a:solidFill>
              <a:srgbClr val="D9DEE4"/>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7772400" y="4453127"/>
            <a:ext cx="2011680" cy="457200"/>
          </a:xfrm>
          <a:prstGeom prst="rect">
            <a:avLst/>
          </a:prstGeom>
          <a:noFill/>
        </p:spPr>
        <p:txBody>
          <a:bodyPr wrap="square" lIns="0" rIns="0" tIns="0" bIns="0" anchor="t">
            <a:spAutoFit/>
          </a:bodyPr>
          <a:lstStyle/>
          <a:p>
            <a:pPr algn="l">
              <a:lnSpc>
                <a:spcPct val="90000"/>
              </a:lnSpc>
              <a:spcAft>
                <a:spcPts val="0"/>
              </a:spcAft>
            </a:pPr>
            <a:r>
              <a:rPr sz="1350" b="0" i="0">
                <a:solidFill>
                  <a:srgbClr val="1B2430"/>
                </a:solidFill>
                <a:latin typeface="Calibri"/>
              </a:rPr>
              <a:t>Discharge limit</a:t>
            </a:r>
          </a:p>
        </p:txBody>
      </p:sp>
      <p:sp>
        <p:nvSpPr>
          <p:cNvPr id="40" name="TextBox 39"/>
          <p:cNvSpPr txBox="1"/>
          <p:nvPr/>
        </p:nvSpPr>
        <p:spPr>
          <a:xfrm>
            <a:off x="9646920" y="4453127"/>
            <a:ext cx="1828800" cy="457200"/>
          </a:xfrm>
          <a:prstGeom prst="rect">
            <a:avLst/>
          </a:prstGeom>
          <a:noFill/>
        </p:spPr>
        <p:txBody>
          <a:bodyPr wrap="square" lIns="0" rIns="0" tIns="0" bIns="0" anchor="t">
            <a:spAutoFit/>
          </a:bodyPr>
          <a:lstStyle/>
          <a:p>
            <a:pPr algn="r">
              <a:spcAft>
                <a:spcPts val="0"/>
              </a:spcAft>
            </a:pPr>
            <a:r>
              <a:rPr sz="1350" b="1" i="0">
                <a:solidFill>
                  <a:srgbClr val="1B2430"/>
                </a:solidFill>
                <a:latin typeface="Calibri"/>
              </a:rPr>
              <a:t>800 A</a:t>
            </a:r>
          </a:p>
        </p:txBody>
      </p:sp>
      <p:cxnSp>
        <p:nvCxnSpPr>
          <p:cNvPr id="41" name="Connector 40"/>
          <p:cNvCxnSpPr/>
          <p:nvPr/>
        </p:nvCxnSpPr>
        <p:spPr>
          <a:xfrm>
            <a:off x="7772400" y="4379975"/>
            <a:ext cx="3657600" cy="0"/>
          </a:xfrm>
          <a:prstGeom prst="line">
            <a:avLst/>
          </a:prstGeom>
          <a:ln w="9525">
            <a:solidFill>
              <a:srgbClr val="D9DEE4"/>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7772400" y="4983479"/>
            <a:ext cx="2011680" cy="457200"/>
          </a:xfrm>
          <a:prstGeom prst="rect">
            <a:avLst/>
          </a:prstGeom>
          <a:noFill/>
        </p:spPr>
        <p:txBody>
          <a:bodyPr wrap="square" lIns="0" rIns="0" tIns="0" bIns="0" anchor="t">
            <a:spAutoFit/>
          </a:bodyPr>
          <a:lstStyle/>
          <a:p>
            <a:pPr algn="l">
              <a:lnSpc>
                <a:spcPct val="90000"/>
              </a:lnSpc>
              <a:spcAft>
                <a:spcPts val="0"/>
              </a:spcAft>
            </a:pPr>
            <a:r>
              <a:rPr sz="1350" b="0" i="0">
                <a:solidFill>
                  <a:srgbClr val="1B2430"/>
                </a:solidFill>
                <a:latin typeface="Calibri"/>
              </a:rPr>
              <a:t>Operation mode</a:t>
            </a:r>
          </a:p>
        </p:txBody>
      </p:sp>
      <p:sp>
        <p:nvSpPr>
          <p:cNvPr id="43" name="TextBox 42"/>
          <p:cNvSpPr txBox="1"/>
          <p:nvPr/>
        </p:nvSpPr>
        <p:spPr>
          <a:xfrm>
            <a:off x="9646920" y="4983479"/>
            <a:ext cx="1828800" cy="457200"/>
          </a:xfrm>
          <a:prstGeom prst="rect">
            <a:avLst/>
          </a:prstGeom>
          <a:noFill/>
        </p:spPr>
        <p:txBody>
          <a:bodyPr wrap="square" lIns="0" rIns="0" tIns="0" bIns="0" anchor="t">
            <a:spAutoFit/>
          </a:bodyPr>
          <a:lstStyle/>
          <a:p>
            <a:pPr algn="r">
              <a:spcAft>
                <a:spcPts val="0"/>
              </a:spcAft>
            </a:pPr>
            <a:r>
              <a:rPr sz="1350" b="1" i="0">
                <a:solidFill>
                  <a:srgbClr val="1B2430"/>
                </a:solidFill>
                <a:latin typeface="Calibri"/>
              </a:rPr>
              <a:t>drive-ready</a:t>
            </a:r>
          </a:p>
        </p:txBody>
      </p:sp>
      <p:cxnSp>
        <p:nvCxnSpPr>
          <p:cNvPr id="44" name="Connector 43"/>
          <p:cNvCxnSpPr/>
          <p:nvPr/>
        </p:nvCxnSpPr>
        <p:spPr>
          <a:xfrm>
            <a:off x="7772400" y="4910327"/>
            <a:ext cx="3657600" cy="0"/>
          </a:xfrm>
          <a:prstGeom prst="line">
            <a:avLst/>
          </a:prstGeom>
          <a:ln w="9525">
            <a:solidFill>
              <a:srgbClr val="D9DEE4"/>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7772400" y="5513831"/>
            <a:ext cx="2011680" cy="457200"/>
          </a:xfrm>
          <a:prstGeom prst="rect">
            <a:avLst/>
          </a:prstGeom>
          <a:noFill/>
        </p:spPr>
        <p:txBody>
          <a:bodyPr wrap="square" lIns="0" rIns="0" tIns="0" bIns="0" anchor="t">
            <a:spAutoFit/>
          </a:bodyPr>
          <a:lstStyle/>
          <a:p>
            <a:pPr algn="l">
              <a:lnSpc>
                <a:spcPct val="90000"/>
              </a:lnSpc>
              <a:spcAft>
                <a:spcPts val="0"/>
              </a:spcAft>
            </a:pPr>
            <a:r>
              <a:rPr sz="1350" b="0" i="0">
                <a:solidFill>
                  <a:srgbClr val="1B2430"/>
                </a:solidFill>
                <a:latin typeface="Calibri"/>
              </a:rPr>
              <a:t>Speed</a:t>
            </a:r>
          </a:p>
        </p:txBody>
      </p:sp>
      <p:sp>
        <p:nvSpPr>
          <p:cNvPr id="46" name="TextBox 45"/>
          <p:cNvSpPr txBox="1"/>
          <p:nvPr/>
        </p:nvSpPr>
        <p:spPr>
          <a:xfrm>
            <a:off x="9646920" y="5513831"/>
            <a:ext cx="1828800" cy="457200"/>
          </a:xfrm>
          <a:prstGeom prst="rect">
            <a:avLst/>
          </a:prstGeom>
          <a:noFill/>
        </p:spPr>
        <p:txBody>
          <a:bodyPr wrap="square" lIns="0" rIns="0" tIns="0" bIns="0" anchor="t">
            <a:spAutoFit/>
          </a:bodyPr>
          <a:lstStyle/>
          <a:p>
            <a:pPr algn="r">
              <a:spcAft>
                <a:spcPts val="0"/>
              </a:spcAft>
            </a:pPr>
            <a:r>
              <a:rPr sz="1350" b="1" i="0">
                <a:solidFill>
                  <a:srgbClr val="1B2430"/>
                </a:solidFill>
                <a:latin typeface="Calibri"/>
              </a:rPr>
              <a:t>0 km/h</a:t>
            </a:r>
          </a:p>
        </p:txBody>
      </p:sp>
      <p:cxnSp>
        <p:nvCxnSpPr>
          <p:cNvPr id="47" name="Connector 46"/>
          <p:cNvCxnSpPr/>
          <p:nvPr/>
        </p:nvCxnSpPr>
        <p:spPr>
          <a:xfrm>
            <a:off x="7772400" y="5440679"/>
            <a:ext cx="3657600" cy="0"/>
          </a:xfrm>
          <a:prstGeom prst="line">
            <a:avLst/>
          </a:prstGeom>
          <a:ln w="9525">
            <a:solidFill>
              <a:srgbClr val="D9DEE4"/>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8229600" cy="274320"/>
          </a:xfrm>
          <a:prstGeom prst="rect">
            <a:avLst/>
          </a:prstGeom>
          <a:noFill/>
        </p:spPr>
        <p:txBody>
          <a:bodyPr wrap="square" lIns="0" rIns="0" tIns="0" bIns="0" anchor="t">
            <a:spAutoFit/>
          </a:bodyPr>
          <a:lstStyle/>
          <a:p>
            <a:pPr algn="l">
              <a:spcAft>
                <a:spcPts val="0"/>
              </a:spcAft>
            </a:pPr>
            <a:r>
              <a:rPr sz="1100" b="0" i="0">
                <a:solidFill>
                  <a:srgbClr val="2F7F72"/>
                </a:solidFill>
                <a:latin typeface="Bahnschrift SemiBold"/>
              </a:rPr>
              <a:t>RESEARCH QUESTION 3 · FINDING 1 OF 3</a:t>
            </a:r>
          </a:p>
        </p:txBody>
      </p:sp>
      <p:sp>
        <p:nvSpPr>
          <p:cNvPr id="3" name="TextBox 2"/>
          <p:cNvSpPr txBox="1"/>
          <p:nvPr/>
        </p:nvSpPr>
        <p:spPr>
          <a:xfrm>
            <a:off x="594360" y="658368"/>
            <a:ext cx="10972800" cy="1051560"/>
          </a:xfrm>
          <a:prstGeom prst="rect">
            <a:avLst/>
          </a:prstGeom>
          <a:noFill/>
        </p:spPr>
        <p:txBody>
          <a:bodyPr wrap="square" lIns="0" rIns="0" tIns="0" bIns="0" anchor="t">
            <a:spAutoFit/>
          </a:bodyPr>
          <a:lstStyle/>
          <a:p>
            <a:pPr algn="l">
              <a:lnSpc>
                <a:spcPct val="95000"/>
              </a:lnSpc>
              <a:spcAft>
                <a:spcPts val="0"/>
              </a:spcAft>
            </a:pPr>
            <a:r>
              <a:rPr sz="2700" b="0" i="0">
                <a:solidFill>
                  <a:srgbClr val="1B2430"/>
                </a:solidFill>
                <a:latin typeface="Bahnschrift SemiBold"/>
              </a:rPr>
              <a:t>The highest- and lowest-cell identifiers carry a voltage the ID.3 list never mentions, scaled by 1/4096</a:t>
            </a:r>
          </a:p>
        </p:txBody>
      </p:sp>
      <p:sp>
        <p:nvSpPr>
          <p:cNvPr id="4" name="TextBox 3"/>
          <p:cNvSpPr txBox="1"/>
          <p:nvPr/>
        </p:nvSpPr>
        <p:spPr>
          <a:xfrm>
            <a:off x="10972800" y="6419088"/>
            <a:ext cx="621792" cy="228600"/>
          </a:xfrm>
          <a:prstGeom prst="rect">
            <a:avLst/>
          </a:prstGeom>
          <a:noFill/>
        </p:spPr>
        <p:txBody>
          <a:bodyPr wrap="square" lIns="0" rIns="0" tIns="0" bIns="0" anchor="t">
            <a:spAutoFit/>
          </a:bodyPr>
          <a:lstStyle/>
          <a:p>
            <a:pPr algn="r">
              <a:spcAft>
                <a:spcPts val="0"/>
              </a:spcAft>
            </a:pPr>
            <a:r>
              <a:rPr sz="1000" b="0" i="0">
                <a:solidFill>
                  <a:srgbClr val="5F6B7A"/>
                </a:solidFill>
                <a:latin typeface="Calibri"/>
              </a:rPr>
              <a:t>11 / 15</a:t>
            </a:r>
          </a:p>
        </p:txBody>
      </p:sp>
      <p:sp>
        <p:nvSpPr>
          <p:cNvPr id="5" name="TextBox 4"/>
          <p:cNvSpPr txBox="1"/>
          <p:nvPr/>
        </p:nvSpPr>
        <p:spPr>
          <a:xfrm>
            <a:off x="594360" y="1783080"/>
            <a:ext cx="5486400" cy="274320"/>
          </a:xfrm>
          <a:prstGeom prst="rect">
            <a:avLst/>
          </a:prstGeom>
          <a:noFill/>
        </p:spPr>
        <p:txBody>
          <a:bodyPr wrap="square" lIns="0" rIns="0" tIns="0" bIns="0" anchor="t">
            <a:spAutoFit/>
          </a:bodyPr>
          <a:lstStyle/>
          <a:p>
            <a:pPr algn="l">
              <a:spcAft>
                <a:spcPts val="0"/>
              </a:spcAft>
            </a:pPr>
            <a:r>
              <a:rPr sz="1100" b="0" i="0">
                <a:solidFill>
                  <a:srgbClr val="5F6B7A"/>
                </a:solidFill>
                <a:latin typeface="Bahnschrift SemiBold"/>
              </a:rPr>
              <a:t>ANSWER OF 0x1E34, “LOWEST CELL”</a:t>
            </a:r>
          </a:p>
        </p:txBody>
      </p:sp>
      <p:sp>
        <p:nvSpPr>
          <p:cNvPr id="6" name="Rectangle 5"/>
          <p:cNvSpPr/>
          <p:nvPr/>
        </p:nvSpPr>
        <p:spPr>
          <a:xfrm>
            <a:off x="594360" y="2103120"/>
            <a:ext cx="2359152" cy="566928"/>
          </a:xfrm>
          <a:prstGeom prst="rect">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2000" b="1">
                <a:solidFill>
                  <a:srgbClr val="5F6B7A"/>
                </a:solidFill>
                <a:latin typeface="Consolas"/>
              </a:rPr>
              <a:t>07 62 1E 34</a:t>
            </a:r>
          </a:p>
        </p:txBody>
      </p:sp>
      <p:sp>
        <p:nvSpPr>
          <p:cNvPr id="7" name="TextBox 6"/>
          <p:cNvSpPr txBox="1"/>
          <p:nvPr/>
        </p:nvSpPr>
        <p:spPr>
          <a:xfrm>
            <a:off x="521207" y="2761488"/>
            <a:ext cx="2505456" cy="822960"/>
          </a:xfrm>
          <a:prstGeom prst="rect">
            <a:avLst/>
          </a:prstGeom>
          <a:noFill/>
        </p:spPr>
        <p:txBody>
          <a:bodyPr wrap="square" lIns="0" rIns="0" tIns="0" bIns="0" anchor="t">
            <a:spAutoFit/>
          </a:bodyPr>
          <a:lstStyle/>
          <a:p>
            <a:pPr algn="ctr">
              <a:lnSpc>
                <a:spcPct val="95000"/>
              </a:lnSpc>
              <a:spcAft>
                <a:spcPts val="0"/>
              </a:spcAft>
            </a:pPr>
            <a:r>
              <a:rPr sz="1250" b="0" i="0">
                <a:solidFill>
                  <a:srgbClr val="5F6B7A"/>
                </a:solidFill>
                <a:latin typeface="Calibri"/>
              </a:rPr>
              <a:t>header + echo</a:t>
            </a:r>
          </a:p>
        </p:txBody>
      </p:sp>
      <p:sp>
        <p:nvSpPr>
          <p:cNvPr id="8" name="Rectangle 7"/>
          <p:cNvSpPr/>
          <p:nvPr/>
        </p:nvSpPr>
        <p:spPr>
          <a:xfrm>
            <a:off x="3118104" y="2103120"/>
            <a:ext cx="1152144" cy="566928"/>
          </a:xfrm>
          <a:prstGeom prst="rect">
            <a:avLst/>
          </a:prstGeom>
          <a:solidFill>
            <a:srgbClr val="E06A1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2000" b="1">
                <a:solidFill>
                  <a:srgbClr val="FFFFFF"/>
                </a:solidFill>
                <a:latin typeface="Consolas"/>
              </a:rPr>
              <a:t>3E 25</a:t>
            </a:r>
          </a:p>
        </p:txBody>
      </p:sp>
      <p:sp>
        <p:nvSpPr>
          <p:cNvPr id="9" name="TextBox 8"/>
          <p:cNvSpPr txBox="1"/>
          <p:nvPr/>
        </p:nvSpPr>
        <p:spPr>
          <a:xfrm>
            <a:off x="3031236" y="2761488"/>
            <a:ext cx="1325880" cy="822960"/>
          </a:xfrm>
          <a:prstGeom prst="rect">
            <a:avLst/>
          </a:prstGeom>
          <a:noFill/>
        </p:spPr>
        <p:txBody>
          <a:bodyPr wrap="square" lIns="0" rIns="0" tIns="0" bIns="0" anchor="t">
            <a:spAutoFit/>
          </a:bodyPr>
          <a:lstStyle/>
          <a:p>
            <a:pPr algn="ctr">
              <a:lnSpc>
                <a:spcPct val="95000"/>
              </a:lnSpc>
              <a:spcAft>
                <a:spcPts val="0"/>
              </a:spcAft>
            </a:pPr>
            <a:r>
              <a:rPr sz="1250" b="0" i="0">
                <a:solidFill>
                  <a:srgbClr val="E06A1B"/>
                </a:solidFill>
                <a:latin typeface="Calibri"/>
              </a:rPr>
              <a:t>new: voltage
0x3E25 / 4096
= 3.884 V</a:t>
            </a:r>
          </a:p>
        </p:txBody>
      </p:sp>
      <p:sp>
        <p:nvSpPr>
          <p:cNvPr id="10" name="Rectangle 9"/>
          <p:cNvSpPr/>
          <p:nvPr/>
        </p:nvSpPr>
        <p:spPr>
          <a:xfrm>
            <a:off x="4434840" y="2103120"/>
            <a:ext cx="548640" cy="566928"/>
          </a:xfrm>
          <a:prstGeom prst="rect">
            <a:avLst/>
          </a:prstGeom>
          <a:noFill/>
          <a:ln w="12700">
            <a:solidFill>
              <a:srgbClr val="D9DEE4"/>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2000" b="1">
                <a:solidFill>
                  <a:srgbClr val="5F6B7A"/>
                </a:solidFill>
                <a:latin typeface="Consolas"/>
              </a:rPr>
              <a:t>00</a:t>
            </a:r>
          </a:p>
        </p:txBody>
      </p:sp>
      <p:sp>
        <p:nvSpPr>
          <p:cNvPr id="11" name="Rectangle 10"/>
          <p:cNvSpPr/>
          <p:nvPr/>
        </p:nvSpPr>
        <p:spPr>
          <a:xfrm>
            <a:off x="5148072" y="2103120"/>
            <a:ext cx="548640" cy="566928"/>
          </a:xfrm>
          <a:prstGeom prst="rect">
            <a:avLst/>
          </a:prstGeom>
          <a:solidFill>
            <a:srgbClr val="2F7F7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2000" b="1">
                <a:solidFill>
                  <a:srgbClr val="FFFFFF"/>
                </a:solidFill>
                <a:latin typeface="Consolas"/>
              </a:rPr>
              <a:t>60</a:t>
            </a:r>
          </a:p>
        </p:txBody>
      </p:sp>
      <p:sp>
        <p:nvSpPr>
          <p:cNvPr id="12" name="TextBox 11"/>
          <p:cNvSpPr txBox="1"/>
          <p:nvPr/>
        </p:nvSpPr>
        <p:spPr>
          <a:xfrm>
            <a:off x="4759452" y="2761488"/>
            <a:ext cx="1325880" cy="822960"/>
          </a:xfrm>
          <a:prstGeom prst="rect">
            <a:avLst/>
          </a:prstGeom>
          <a:noFill/>
        </p:spPr>
        <p:txBody>
          <a:bodyPr wrap="square" lIns="0" rIns="0" tIns="0" bIns="0" anchor="t">
            <a:spAutoFit/>
          </a:bodyPr>
          <a:lstStyle/>
          <a:p>
            <a:pPr algn="ctr">
              <a:lnSpc>
                <a:spcPct val="95000"/>
              </a:lnSpc>
              <a:spcAft>
                <a:spcPts val="0"/>
              </a:spcAft>
            </a:pPr>
            <a:r>
              <a:rPr sz="1250" b="0" i="0">
                <a:solidFill>
                  <a:srgbClr val="2F7F72"/>
                </a:solidFill>
                <a:latin typeface="Calibri"/>
              </a:rPr>
              <a:t>in the list:
cell 0x60 = 96</a:t>
            </a:r>
          </a:p>
        </p:txBody>
      </p:sp>
      <p:sp>
        <p:nvSpPr>
          <p:cNvPr id="13" name="TextBox 12"/>
          <p:cNvSpPr txBox="1"/>
          <p:nvPr/>
        </p:nvSpPr>
        <p:spPr>
          <a:xfrm>
            <a:off x="594360" y="4023360"/>
            <a:ext cx="6858000" cy="274320"/>
          </a:xfrm>
          <a:prstGeom prst="rect">
            <a:avLst/>
          </a:prstGeom>
          <a:noFill/>
        </p:spPr>
        <p:txBody>
          <a:bodyPr wrap="square" lIns="0" rIns="0" tIns="0" bIns="0" anchor="t">
            <a:spAutoFit/>
          </a:bodyPr>
          <a:lstStyle/>
          <a:p>
            <a:pPr algn="l">
              <a:spcAft>
                <a:spcPts val="0"/>
              </a:spcAft>
            </a:pPr>
            <a:r>
              <a:rPr sz="1100" b="0" i="0">
                <a:solidFill>
                  <a:srgbClr val="5F6B7A"/>
                </a:solidFill>
                <a:latin typeface="Bahnschrift SemiBold"/>
              </a:rPr>
              <a:t>WHY 1/4096 IS RIGHT: THE EXTREMES MUST ENCLOSE EVERY SAMPLED CELL</a:t>
            </a:r>
          </a:p>
        </p:txBody>
      </p:sp>
      <p:cxnSp>
        <p:nvCxnSpPr>
          <p:cNvPr id="14" name="Connector 13"/>
          <p:cNvCxnSpPr/>
          <p:nvPr/>
        </p:nvCxnSpPr>
        <p:spPr>
          <a:xfrm>
            <a:off x="822960" y="5623560"/>
            <a:ext cx="5943600" cy="0"/>
          </a:xfrm>
          <a:prstGeom prst="line">
            <a:avLst/>
          </a:prstGeom>
          <a:ln w="12700">
            <a:solidFill>
              <a:srgbClr val="5F6B7A"/>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72583" y="5577840"/>
            <a:ext cx="0" cy="91440"/>
          </a:xfrm>
          <a:prstGeom prst="line">
            <a:avLst/>
          </a:prstGeom>
          <a:ln w="12700">
            <a:solidFill>
              <a:srgbClr val="5F6B7A"/>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15383" y="5715000"/>
            <a:ext cx="914400" cy="274320"/>
          </a:xfrm>
          <a:prstGeom prst="rect">
            <a:avLst/>
          </a:prstGeom>
          <a:noFill/>
        </p:spPr>
        <p:txBody>
          <a:bodyPr wrap="square" lIns="0" rIns="0" tIns="0" bIns="0" anchor="t">
            <a:spAutoFit/>
          </a:bodyPr>
          <a:lstStyle/>
          <a:p>
            <a:pPr algn="ctr">
              <a:spcAft>
                <a:spcPts val="0"/>
              </a:spcAft>
            </a:pPr>
            <a:r>
              <a:rPr sz="1100" b="0" i="0">
                <a:solidFill>
                  <a:srgbClr val="5F6B7A"/>
                </a:solidFill>
                <a:latin typeface="Calibri"/>
              </a:rPr>
              <a:t>3.880 V</a:t>
            </a:r>
          </a:p>
        </p:txBody>
      </p:sp>
      <p:cxnSp>
        <p:nvCxnSpPr>
          <p:cNvPr id="17" name="Connector 16"/>
          <p:cNvCxnSpPr/>
          <p:nvPr/>
        </p:nvCxnSpPr>
        <p:spPr>
          <a:xfrm>
            <a:off x="2920701" y="5577840"/>
            <a:ext cx="0" cy="91440"/>
          </a:xfrm>
          <a:prstGeom prst="line">
            <a:avLst/>
          </a:prstGeom>
          <a:ln w="12700">
            <a:solidFill>
              <a:srgbClr val="5F6B7A"/>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2463501" y="5715000"/>
            <a:ext cx="914400" cy="274320"/>
          </a:xfrm>
          <a:prstGeom prst="rect">
            <a:avLst/>
          </a:prstGeom>
          <a:noFill/>
        </p:spPr>
        <p:txBody>
          <a:bodyPr wrap="square" lIns="0" rIns="0" tIns="0" bIns="0" anchor="t">
            <a:spAutoFit/>
          </a:bodyPr>
          <a:lstStyle/>
          <a:p>
            <a:pPr algn="ctr">
              <a:spcAft>
                <a:spcPts val="0"/>
              </a:spcAft>
            </a:pPr>
            <a:r>
              <a:rPr sz="1100" b="0" i="0">
                <a:solidFill>
                  <a:srgbClr val="5F6B7A"/>
                </a:solidFill>
                <a:latin typeface="Calibri"/>
              </a:rPr>
              <a:t>3.885 V</a:t>
            </a:r>
          </a:p>
        </p:txBody>
      </p:sp>
      <p:cxnSp>
        <p:nvCxnSpPr>
          <p:cNvPr id="19" name="Connector 18"/>
          <p:cNvCxnSpPr/>
          <p:nvPr/>
        </p:nvCxnSpPr>
        <p:spPr>
          <a:xfrm>
            <a:off x="4668818" y="5577840"/>
            <a:ext cx="0" cy="91440"/>
          </a:xfrm>
          <a:prstGeom prst="line">
            <a:avLst/>
          </a:prstGeom>
          <a:ln w="12700">
            <a:solidFill>
              <a:srgbClr val="5F6B7A"/>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211618" y="5715000"/>
            <a:ext cx="914400" cy="274320"/>
          </a:xfrm>
          <a:prstGeom prst="rect">
            <a:avLst/>
          </a:prstGeom>
          <a:noFill/>
        </p:spPr>
        <p:txBody>
          <a:bodyPr wrap="square" lIns="0" rIns="0" tIns="0" bIns="0" anchor="t">
            <a:spAutoFit/>
          </a:bodyPr>
          <a:lstStyle/>
          <a:p>
            <a:pPr algn="ctr">
              <a:spcAft>
                <a:spcPts val="0"/>
              </a:spcAft>
            </a:pPr>
            <a:r>
              <a:rPr sz="1100" b="0" i="0">
                <a:solidFill>
                  <a:srgbClr val="5F6B7A"/>
                </a:solidFill>
                <a:latin typeface="Calibri"/>
              </a:rPr>
              <a:t>3.890 V</a:t>
            </a:r>
          </a:p>
        </p:txBody>
      </p:sp>
      <p:cxnSp>
        <p:nvCxnSpPr>
          <p:cNvPr id="21" name="Connector 20"/>
          <p:cNvCxnSpPr/>
          <p:nvPr/>
        </p:nvCxnSpPr>
        <p:spPr>
          <a:xfrm>
            <a:off x="6416936" y="5577840"/>
            <a:ext cx="0" cy="91440"/>
          </a:xfrm>
          <a:prstGeom prst="line">
            <a:avLst/>
          </a:prstGeom>
          <a:ln w="12700">
            <a:solidFill>
              <a:srgbClr val="5F6B7A"/>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959736" y="5715000"/>
            <a:ext cx="914400" cy="274320"/>
          </a:xfrm>
          <a:prstGeom prst="rect">
            <a:avLst/>
          </a:prstGeom>
          <a:noFill/>
        </p:spPr>
        <p:txBody>
          <a:bodyPr wrap="square" lIns="0" rIns="0" tIns="0" bIns="0" anchor="t">
            <a:spAutoFit/>
          </a:bodyPr>
          <a:lstStyle/>
          <a:p>
            <a:pPr algn="ctr">
              <a:spcAft>
                <a:spcPts val="0"/>
              </a:spcAft>
            </a:pPr>
            <a:r>
              <a:rPr sz="1100" b="0" i="0">
                <a:solidFill>
                  <a:srgbClr val="5F6B7A"/>
                </a:solidFill>
                <a:latin typeface="Calibri"/>
              </a:rPr>
              <a:t>3.895 V</a:t>
            </a:r>
          </a:p>
        </p:txBody>
      </p:sp>
      <p:sp>
        <p:nvSpPr>
          <p:cNvPr id="23" name="Rectangle 22"/>
          <p:cNvSpPr/>
          <p:nvPr/>
        </p:nvSpPr>
        <p:spPr>
          <a:xfrm>
            <a:off x="1522207" y="4480560"/>
            <a:ext cx="4545105" cy="384048"/>
          </a:xfrm>
          <a:prstGeom prst="rect">
            <a:avLst/>
          </a:prstGeom>
          <a:solidFill>
            <a:srgbClr val="E06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8752" y="4526280"/>
            <a:ext cx="2743200" cy="320040"/>
          </a:xfrm>
          <a:prstGeom prst="rect">
            <a:avLst/>
          </a:prstGeom>
          <a:noFill/>
        </p:spPr>
        <p:txBody>
          <a:bodyPr wrap="square" lIns="0" rIns="0" tIns="0" bIns="0" anchor="t">
            <a:spAutoFit/>
          </a:bodyPr>
          <a:lstStyle/>
          <a:p>
            <a:pPr algn="l">
              <a:spcAft>
                <a:spcPts val="0"/>
              </a:spcAft>
            </a:pPr>
            <a:r>
              <a:rPr sz="1250" b="0" i="0">
                <a:solidFill>
                  <a:srgbClr val="E06A1B"/>
                </a:solidFill>
                <a:latin typeface="Calibri"/>
              </a:rPr>
              <a:t>BMS min … max</a:t>
            </a:r>
          </a:p>
        </p:txBody>
      </p:sp>
      <p:sp>
        <p:nvSpPr>
          <p:cNvPr id="25" name="Rectangle 24"/>
          <p:cNvSpPr/>
          <p:nvPr/>
        </p:nvSpPr>
        <p:spPr>
          <a:xfrm>
            <a:off x="3969571" y="5029200"/>
            <a:ext cx="699247" cy="384048"/>
          </a:xfrm>
          <a:prstGeom prst="rect">
            <a:avLst/>
          </a:prstGeom>
          <a:solidFill>
            <a:srgbClr val="2F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760258" y="5074920"/>
            <a:ext cx="2743200" cy="320040"/>
          </a:xfrm>
          <a:prstGeom prst="rect">
            <a:avLst/>
          </a:prstGeom>
          <a:noFill/>
        </p:spPr>
        <p:txBody>
          <a:bodyPr wrap="square" lIns="0" rIns="0" tIns="0" bIns="0" anchor="t">
            <a:spAutoFit/>
          </a:bodyPr>
          <a:lstStyle/>
          <a:p>
            <a:pPr algn="l">
              <a:spcAft>
                <a:spcPts val="0"/>
              </a:spcAft>
            </a:pPr>
            <a:r>
              <a:rPr sz="1250" b="0" i="0">
                <a:solidFill>
                  <a:srgbClr val="2F7F72"/>
                </a:solidFill>
                <a:latin typeface="Calibri"/>
              </a:rPr>
              <a:t>28 cells read one by one</a:t>
            </a:r>
          </a:p>
        </p:txBody>
      </p:sp>
      <p:sp>
        <p:nvSpPr>
          <p:cNvPr id="27" name="Rectangle 26"/>
          <p:cNvSpPr/>
          <p:nvPr/>
        </p:nvSpPr>
        <p:spPr>
          <a:xfrm>
            <a:off x="7589520" y="1783080"/>
            <a:ext cx="4023360" cy="4389120"/>
          </a:xfrm>
          <a:prstGeom prst="rect">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0" y="1965960"/>
            <a:ext cx="3657600" cy="4114800"/>
          </a:xfrm>
          <a:prstGeom prst="rect">
            <a:avLst/>
          </a:prstGeom>
          <a:noFill/>
        </p:spPr>
        <p:txBody>
          <a:bodyPr wrap="square" lIns="0" rIns="0" tIns="0" bIns="0" anchor="t">
            <a:spAutoFit/>
          </a:bodyPr>
          <a:lstStyle/>
          <a:p>
            <a:pPr algn="l">
              <a:lnSpc>
                <a:spcPct val="95000"/>
              </a:lnSpc>
              <a:spcAft>
                <a:spcPts val="1400"/>
              </a:spcAft>
            </a:pPr>
            <a:r>
              <a:rPr sz="4000" b="0" i="0">
                <a:solidFill>
                  <a:srgbClr val="E06A1B"/>
                </a:solidFill>
                <a:latin typeface="Bahnschrift SemiBold"/>
              </a:rPr>
              <a:t>112 / 112</a:t>
            </a:r>
          </a:p>
          <a:p>
            <a:pPr algn="l">
              <a:lnSpc>
                <a:spcPct val="95000"/>
              </a:lnSpc>
              <a:spcAft>
                <a:spcPts val="1400"/>
              </a:spcAft>
            </a:pPr>
            <a:r>
              <a:rPr sz="1450" b="0" i="0">
                <a:solidFill>
                  <a:srgbClr val="1B2430"/>
                </a:solidFill>
                <a:latin typeface="Calibri"/>
              </a:rPr>
              <a:t>reads across three sessions name cell 96 as the lowest cell.</a:t>
            </a:r>
          </a:p>
          <a:p>
            <a:pPr algn="l">
              <a:lnSpc>
                <a:spcPct val="95000"/>
              </a:lnSpc>
              <a:spcAft>
                <a:spcPts val="1400"/>
              </a:spcAft>
            </a:pPr>
            <a:r>
              <a:rPr sz="1450" b="0" i="0">
                <a:solidFill>
                  <a:srgbClr val="5F6B7A"/>
                </a:solidFill>
                <a:latin typeface="Calibri"/>
              </a:rPr>
              <a:t>The highest cell wanders with the noise; the lowest does not.</a:t>
            </a:r>
          </a:p>
          <a:p>
            <a:pPr algn="l">
              <a:lnSpc>
                <a:spcPct val="95000"/>
              </a:lnSpc>
              <a:spcAft>
                <a:spcPts val="1400"/>
              </a:spcAft>
            </a:pPr>
            <a:r>
              <a:rPr sz="1450" b="1" i="0">
                <a:solidFill>
                  <a:srgbClr val="1B2430"/>
                </a:solidFill>
                <a:latin typeface="Calibri"/>
              </a:rPr>
              <a:t>Lesson learned</a:t>
            </a:r>
          </a:p>
          <a:p>
            <a:pPr algn="l">
              <a:lnSpc>
                <a:spcPct val="95000"/>
              </a:lnSpc>
              <a:spcAft>
                <a:spcPts val="1400"/>
              </a:spcAft>
            </a:pPr>
            <a:r>
              <a:rPr sz="1450" b="0" i="0">
                <a:solidFill>
                  <a:srgbClr val="5F6B7A"/>
                </a:solidFill>
                <a:latin typeface="Calibri"/>
              </a:rPr>
              <a:t>A first decoding read the wrong byte and reported “cell 62” as both highest and lowest: impossible, and that is how it was caught.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8229600" cy="274320"/>
          </a:xfrm>
          <a:prstGeom prst="rect">
            <a:avLst/>
          </a:prstGeom>
          <a:noFill/>
        </p:spPr>
        <p:txBody>
          <a:bodyPr wrap="square" lIns="0" rIns="0" tIns="0" bIns="0" anchor="t">
            <a:spAutoFit/>
          </a:bodyPr>
          <a:lstStyle/>
          <a:p>
            <a:pPr algn="l">
              <a:spcAft>
                <a:spcPts val="0"/>
              </a:spcAft>
            </a:pPr>
            <a:r>
              <a:rPr sz="1100" b="0" i="0">
                <a:solidFill>
                  <a:srgbClr val="2F7F72"/>
                </a:solidFill>
                <a:latin typeface="Bahnschrift SemiBold"/>
              </a:rPr>
              <a:t>RESEARCH QUESTION 3 · FINDINGS 2 AND 3</a:t>
            </a:r>
          </a:p>
        </p:txBody>
      </p:sp>
      <p:sp>
        <p:nvSpPr>
          <p:cNvPr id="3" name="TextBox 2"/>
          <p:cNvSpPr txBox="1"/>
          <p:nvPr/>
        </p:nvSpPr>
        <p:spPr>
          <a:xfrm>
            <a:off x="594360" y="658368"/>
            <a:ext cx="10972800" cy="1051560"/>
          </a:xfrm>
          <a:prstGeom prst="rect">
            <a:avLst/>
          </a:prstGeom>
          <a:noFill/>
        </p:spPr>
        <p:txBody>
          <a:bodyPr wrap="square" lIns="0" rIns="0" tIns="0" bIns="0" anchor="t">
            <a:spAutoFit/>
          </a:bodyPr>
          <a:lstStyle/>
          <a:p>
            <a:pPr algn="l">
              <a:lnSpc>
                <a:spcPct val="95000"/>
              </a:lnSpc>
              <a:spcAft>
                <a:spcPts val="0"/>
              </a:spcAft>
            </a:pPr>
            <a:r>
              <a:rPr sz="2700" b="0" i="0">
                <a:solidFill>
                  <a:srgbClr val="1B2430"/>
                </a:solidFill>
                <a:latin typeface="Bahnschrift SemiBold"/>
              </a:rPr>
              <a:t>0x0FFE is not a 5.09 V cell but the code for “no cell here”, and three arguments say the pack measures exactly 96 cells</a:t>
            </a:r>
          </a:p>
        </p:txBody>
      </p:sp>
      <p:sp>
        <p:nvSpPr>
          <p:cNvPr id="4" name="TextBox 3"/>
          <p:cNvSpPr txBox="1"/>
          <p:nvPr/>
        </p:nvSpPr>
        <p:spPr>
          <a:xfrm>
            <a:off x="10972800" y="6419088"/>
            <a:ext cx="621792" cy="228600"/>
          </a:xfrm>
          <a:prstGeom prst="rect">
            <a:avLst/>
          </a:prstGeom>
          <a:noFill/>
        </p:spPr>
        <p:txBody>
          <a:bodyPr wrap="square" lIns="0" rIns="0" tIns="0" bIns="0" anchor="t">
            <a:spAutoFit/>
          </a:bodyPr>
          <a:lstStyle/>
          <a:p>
            <a:pPr algn="r">
              <a:spcAft>
                <a:spcPts val="0"/>
              </a:spcAft>
            </a:pPr>
            <a:r>
              <a:rPr sz="1000" b="0" i="0">
                <a:solidFill>
                  <a:srgbClr val="5F6B7A"/>
                </a:solidFill>
                <a:latin typeface="Calibri"/>
              </a:rPr>
              <a:t>12 / 15</a:t>
            </a:r>
          </a:p>
        </p:txBody>
      </p:sp>
      <p:sp>
        <p:nvSpPr>
          <p:cNvPr id="5" name="TextBox 4"/>
          <p:cNvSpPr txBox="1"/>
          <p:nvPr/>
        </p:nvSpPr>
        <p:spPr>
          <a:xfrm>
            <a:off x="594360" y="4160520"/>
            <a:ext cx="3429000" cy="320040"/>
          </a:xfrm>
          <a:prstGeom prst="rect">
            <a:avLst/>
          </a:prstGeom>
          <a:noFill/>
        </p:spPr>
        <p:txBody>
          <a:bodyPr wrap="square" lIns="0" rIns="0" tIns="0" bIns="0" anchor="t">
            <a:spAutoFit/>
          </a:bodyPr>
          <a:lstStyle/>
          <a:p>
            <a:pPr algn="l">
              <a:spcAft>
                <a:spcPts val="0"/>
              </a:spcAft>
            </a:pPr>
            <a:r>
              <a:rPr sz="1600" b="1" i="0">
                <a:solidFill>
                  <a:srgbClr val="1B2430"/>
                </a:solidFill>
                <a:latin typeface="Calibri"/>
              </a:rPr>
              <a:t>1  From above</a:t>
            </a:r>
          </a:p>
        </p:txBody>
      </p:sp>
      <p:sp>
        <p:nvSpPr>
          <p:cNvPr id="6" name="TextBox 5"/>
          <p:cNvSpPr txBox="1"/>
          <p:nvPr/>
        </p:nvSpPr>
        <p:spPr>
          <a:xfrm>
            <a:off x="594360" y="4526280"/>
            <a:ext cx="3429000" cy="1371600"/>
          </a:xfrm>
          <a:prstGeom prst="rect">
            <a:avLst/>
          </a:prstGeom>
          <a:noFill/>
        </p:spPr>
        <p:txBody>
          <a:bodyPr wrap="square" lIns="0" rIns="0" tIns="0" bIns="0" anchor="t">
            <a:spAutoFit/>
          </a:bodyPr>
          <a:lstStyle/>
          <a:p>
            <a:pPr algn="l">
              <a:lnSpc>
                <a:spcPct val="95000"/>
              </a:lnSpc>
              <a:spcAft>
                <a:spcPts val="0"/>
              </a:spcAft>
            </a:pPr>
            <a:r>
              <a:rPr sz="1400" b="0" i="0">
                <a:solidFill>
                  <a:srgbClr val="5F6B7A"/>
                </a:solidFill>
                <a:latin typeface="Calibri"/>
              </a:rPr>
              <a:t>slots 97, 100 and 104 return 0x0FFE in 100 % of reads: the largest 12-bit value minus one, a reserved “not available” code</a:t>
            </a:r>
          </a:p>
        </p:txBody>
      </p:sp>
      <p:sp>
        <p:nvSpPr>
          <p:cNvPr id="7" name="TextBox 6"/>
          <p:cNvSpPr txBox="1"/>
          <p:nvPr/>
        </p:nvSpPr>
        <p:spPr>
          <a:xfrm>
            <a:off x="4343400" y="4160520"/>
            <a:ext cx="3429000" cy="320040"/>
          </a:xfrm>
          <a:prstGeom prst="rect">
            <a:avLst/>
          </a:prstGeom>
          <a:noFill/>
        </p:spPr>
        <p:txBody>
          <a:bodyPr wrap="square" lIns="0" rIns="0" tIns="0" bIns="0" anchor="t">
            <a:spAutoFit/>
          </a:bodyPr>
          <a:lstStyle/>
          <a:p>
            <a:pPr algn="l">
              <a:spcAft>
                <a:spcPts val="0"/>
              </a:spcAft>
            </a:pPr>
            <a:r>
              <a:rPr sz="1600" b="1" i="0">
                <a:solidFill>
                  <a:srgbClr val="1B2430"/>
                </a:solidFill>
                <a:latin typeface="Calibri"/>
              </a:rPr>
              <a:t>2  From below</a:t>
            </a:r>
          </a:p>
        </p:txBody>
      </p:sp>
      <p:sp>
        <p:nvSpPr>
          <p:cNvPr id="8" name="TextBox 7"/>
          <p:cNvSpPr txBox="1"/>
          <p:nvPr/>
        </p:nvSpPr>
        <p:spPr>
          <a:xfrm>
            <a:off x="4343400" y="4526280"/>
            <a:ext cx="3429000" cy="1371600"/>
          </a:xfrm>
          <a:prstGeom prst="rect">
            <a:avLst/>
          </a:prstGeom>
          <a:noFill/>
        </p:spPr>
        <p:txBody>
          <a:bodyPr wrap="square" lIns="0" rIns="0" tIns="0" bIns="0" anchor="t">
            <a:spAutoFit/>
          </a:bodyPr>
          <a:lstStyle/>
          <a:p>
            <a:pPr algn="l">
              <a:lnSpc>
                <a:spcPct val="95000"/>
              </a:lnSpc>
              <a:spcAft>
                <a:spcPts val="0"/>
              </a:spcAft>
            </a:pPr>
            <a:r>
              <a:rPr sz="1400" b="0" i="0">
                <a:solidFill>
                  <a:srgbClr val="5F6B7A"/>
                </a:solidFill>
                <a:latin typeface="Calibri"/>
              </a:rPr>
              <a:t>the BMS itself names cell 96 as its lowest cell in 112 of 112 reads, so cell 96 exists</a:t>
            </a:r>
          </a:p>
        </p:txBody>
      </p:sp>
      <p:sp>
        <p:nvSpPr>
          <p:cNvPr id="9" name="TextBox 8"/>
          <p:cNvSpPr txBox="1"/>
          <p:nvPr/>
        </p:nvSpPr>
        <p:spPr>
          <a:xfrm>
            <a:off x="8092440" y="4160520"/>
            <a:ext cx="3429000" cy="320040"/>
          </a:xfrm>
          <a:prstGeom prst="rect">
            <a:avLst/>
          </a:prstGeom>
          <a:noFill/>
        </p:spPr>
        <p:txBody>
          <a:bodyPr wrap="square" lIns="0" rIns="0" tIns="0" bIns="0" anchor="t">
            <a:spAutoFit/>
          </a:bodyPr>
          <a:lstStyle/>
          <a:p>
            <a:pPr algn="l">
              <a:spcAft>
                <a:spcPts val="0"/>
              </a:spcAft>
            </a:pPr>
            <a:r>
              <a:rPr sz="1600" b="1" i="0">
                <a:solidFill>
                  <a:srgbClr val="1B2430"/>
                </a:solidFill>
                <a:latin typeface="Calibri"/>
              </a:rPr>
              <a:t>3  From the pack voltage</a:t>
            </a:r>
          </a:p>
        </p:txBody>
      </p:sp>
      <p:sp>
        <p:nvSpPr>
          <p:cNvPr id="10" name="TextBox 9"/>
          <p:cNvSpPr txBox="1"/>
          <p:nvPr/>
        </p:nvSpPr>
        <p:spPr>
          <a:xfrm>
            <a:off x="8092440" y="4526280"/>
            <a:ext cx="3429000" cy="1371600"/>
          </a:xfrm>
          <a:prstGeom prst="rect">
            <a:avLst/>
          </a:prstGeom>
          <a:noFill/>
        </p:spPr>
        <p:txBody>
          <a:bodyPr wrap="square" lIns="0" rIns="0" tIns="0" bIns="0" anchor="t">
            <a:spAutoFit/>
          </a:bodyPr>
          <a:lstStyle/>
          <a:p>
            <a:pPr algn="l">
              <a:lnSpc>
                <a:spcPct val="95000"/>
              </a:lnSpc>
              <a:spcAft>
                <a:spcPts val="0"/>
              </a:spcAft>
            </a:pPr>
            <a:r>
              <a:rPr sz="1400" b="0" i="0">
                <a:solidFill>
                  <a:srgbClr val="5F6B7A"/>
                </a:solidFill>
                <a:latin typeface="Calibri"/>
              </a:rPr>
              <a:t>373.5 V / 3.8891 V per cell = 96.0; any other count misses the measured band</a:t>
            </a:r>
          </a:p>
        </p:txBody>
      </p:sp>
      <p:sp>
        <p:nvSpPr>
          <p:cNvPr id="11" name="Rectangle 10"/>
          <p:cNvSpPr/>
          <p:nvPr/>
        </p:nvSpPr>
        <p:spPr>
          <a:xfrm>
            <a:off x="594360" y="2331720"/>
            <a:ext cx="246888" cy="822960"/>
          </a:xfrm>
          <a:prstGeom prst="rect">
            <a:avLst/>
          </a:prstGeom>
          <a:solidFill>
            <a:srgbClr val="2F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3200400"/>
            <a:ext cx="429768" cy="228600"/>
          </a:xfrm>
          <a:prstGeom prst="rect">
            <a:avLst/>
          </a:prstGeom>
          <a:noFill/>
        </p:spPr>
        <p:txBody>
          <a:bodyPr wrap="square" lIns="0" rIns="0" tIns="0" bIns="0" anchor="t">
            <a:spAutoFit/>
          </a:bodyPr>
          <a:lstStyle/>
          <a:p>
            <a:pPr algn="ctr">
              <a:spcAft>
                <a:spcPts val="0"/>
              </a:spcAft>
            </a:pPr>
            <a:r>
              <a:rPr sz="1000" b="0" i="0">
                <a:solidFill>
                  <a:srgbClr val="5F6B7A"/>
                </a:solidFill>
                <a:latin typeface="Calibri"/>
              </a:rPr>
              <a:t>93</a:t>
            </a:r>
          </a:p>
        </p:txBody>
      </p:sp>
      <p:sp>
        <p:nvSpPr>
          <p:cNvPr id="13" name="Rectangle 12"/>
          <p:cNvSpPr/>
          <p:nvPr/>
        </p:nvSpPr>
        <p:spPr>
          <a:xfrm>
            <a:off x="877824" y="2331720"/>
            <a:ext cx="246888" cy="822960"/>
          </a:xfrm>
          <a:prstGeom prst="rect">
            <a:avLst/>
          </a:prstGeom>
          <a:solidFill>
            <a:srgbClr val="2F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161288" y="2331720"/>
            <a:ext cx="246888" cy="822960"/>
          </a:xfrm>
          <a:prstGeom prst="rect">
            <a:avLst/>
          </a:prstGeom>
          <a:solidFill>
            <a:srgbClr val="2F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444752" y="2331720"/>
            <a:ext cx="246888" cy="822960"/>
          </a:xfrm>
          <a:prstGeom prst="rect">
            <a:avLst/>
          </a:prstGeom>
          <a:solidFill>
            <a:srgbClr val="2F7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53312" y="3200400"/>
            <a:ext cx="429768" cy="228600"/>
          </a:xfrm>
          <a:prstGeom prst="rect">
            <a:avLst/>
          </a:prstGeom>
          <a:noFill/>
        </p:spPr>
        <p:txBody>
          <a:bodyPr wrap="square" lIns="0" rIns="0" tIns="0" bIns="0" anchor="t">
            <a:spAutoFit/>
          </a:bodyPr>
          <a:lstStyle/>
          <a:p>
            <a:pPr algn="ctr">
              <a:spcAft>
                <a:spcPts val="0"/>
              </a:spcAft>
            </a:pPr>
            <a:r>
              <a:rPr sz="1000" b="0" i="0">
                <a:solidFill>
                  <a:srgbClr val="5F6B7A"/>
                </a:solidFill>
                <a:latin typeface="Calibri"/>
              </a:rPr>
              <a:t>96</a:t>
            </a:r>
          </a:p>
        </p:txBody>
      </p:sp>
      <p:sp>
        <p:nvSpPr>
          <p:cNvPr id="17" name="Rectangle 16"/>
          <p:cNvSpPr/>
          <p:nvPr/>
        </p:nvSpPr>
        <p:spPr>
          <a:xfrm>
            <a:off x="1728216" y="2331720"/>
            <a:ext cx="246888" cy="8229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36776" y="3200400"/>
            <a:ext cx="429768" cy="228600"/>
          </a:xfrm>
          <a:prstGeom prst="rect">
            <a:avLst/>
          </a:prstGeom>
          <a:noFill/>
        </p:spPr>
        <p:txBody>
          <a:bodyPr wrap="square" lIns="0" rIns="0" tIns="0" bIns="0" anchor="t">
            <a:spAutoFit/>
          </a:bodyPr>
          <a:lstStyle/>
          <a:p>
            <a:pPr algn="ctr">
              <a:spcAft>
                <a:spcPts val="0"/>
              </a:spcAft>
            </a:pPr>
            <a:r>
              <a:rPr sz="1000" b="0" i="0">
                <a:solidFill>
                  <a:srgbClr val="5F6B7A"/>
                </a:solidFill>
                <a:latin typeface="Calibri"/>
              </a:rPr>
              <a:t>97</a:t>
            </a:r>
          </a:p>
        </p:txBody>
      </p:sp>
      <p:sp>
        <p:nvSpPr>
          <p:cNvPr id="19" name="Rectangle 18"/>
          <p:cNvSpPr/>
          <p:nvPr/>
        </p:nvSpPr>
        <p:spPr>
          <a:xfrm>
            <a:off x="2011680" y="2331720"/>
            <a:ext cx="246888" cy="822960"/>
          </a:xfrm>
          <a:prstGeom prst="rect">
            <a:avLst/>
          </a:prstGeom>
          <a:solidFill>
            <a:srgbClr val="FFFFFF"/>
          </a:solidFill>
          <a:ln w="12700">
            <a:solidFill>
              <a:srgbClr val="D9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295144" y="2331720"/>
            <a:ext cx="246888" cy="822960"/>
          </a:xfrm>
          <a:prstGeom prst="rect">
            <a:avLst/>
          </a:prstGeom>
          <a:solidFill>
            <a:srgbClr val="FFFFFF"/>
          </a:solidFill>
          <a:ln w="12700">
            <a:solidFill>
              <a:srgbClr val="D9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78608" y="2331720"/>
            <a:ext cx="246888" cy="8229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487168" y="3200400"/>
            <a:ext cx="429768" cy="228600"/>
          </a:xfrm>
          <a:prstGeom prst="rect">
            <a:avLst/>
          </a:prstGeom>
          <a:noFill/>
        </p:spPr>
        <p:txBody>
          <a:bodyPr wrap="square" lIns="0" rIns="0" tIns="0" bIns="0" anchor="t">
            <a:spAutoFit/>
          </a:bodyPr>
          <a:lstStyle/>
          <a:p>
            <a:pPr algn="ctr">
              <a:spcAft>
                <a:spcPts val="0"/>
              </a:spcAft>
            </a:pPr>
            <a:r>
              <a:rPr sz="1000" b="0" i="0">
                <a:solidFill>
                  <a:srgbClr val="5F6B7A"/>
                </a:solidFill>
                <a:latin typeface="Calibri"/>
              </a:rPr>
              <a:t>100</a:t>
            </a:r>
          </a:p>
        </p:txBody>
      </p:sp>
      <p:sp>
        <p:nvSpPr>
          <p:cNvPr id="23" name="Rectangle 22"/>
          <p:cNvSpPr/>
          <p:nvPr/>
        </p:nvSpPr>
        <p:spPr>
          <a:xfrm>
            <a:off x="2862072" y="2331720"/>
            <a:ext cx="246888" cy="822960"/>
          </a:xfrm>
          <a:prstGeom prst="rect">
            <a:avLst/>
          </a:prstGeom>
          <a:solidFill>
            <a:srgbClr val="FFFFFF"/>
          </a:solidFill>
          <a:ln w="12700">
            <a:solidFill>
              <a:srgbClr val="D9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145536" y="2331720"/>
            <a:ext cx="246888" cy="822960"/>
          </a:xfrm>
          <a:prstGeom prst="rect">
            <a:avLst/>
          </a:prstGeom>
          <a:solidFill>
            <a:srgbClr val="FFFFFF"/>
          </a:solidFill>
          <a:ln w="12700">
            <a:solidFill>
              <a:srgbClr val="D9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429000" y="2331720"/>
            <a:ext cx="246888" cy="822960"/>
          </a:xfrm>
          <a:prstGeom prst="rect">
            <a:avLst/>
          </a:prstGeom>
          <a:solidFill>
            <a:srgbClr val="FFFFFF"/>
          </a:solidFill>
          <a:ln w="12700">
            <a:solidFill>
              <a:srgbClr val="D9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712464" y="2331720"/>
            <a:ext cx="246888" cy="8229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621024" y="3200400"/>
            <a:ext cx="429768" cy="228600"/>
          </a:xfrm>
          <a:prstGeom prst="rect">
            <a:avLst/>
          </a:prstGeom>
          <a:noFill/>
        </p:spPr>
        <p:txBody>
          <a:bodyPr wrap="square" lIns="0" rIns="0" tIns="0" bIns="0" anchor="t">
            <a:spAutoFit/>
          </a:bodyPr>
          <a:lstStyle/>
          <a:p>
            <a:pPr algn="ctr">
              <a:spcAft>
                <a:spcPts val="0"/>
              </a:spcAft>
            </a:pPr>
            <a:r>
              <a:rPr sz="1000" b="0" i="0">
                <a:solidFill>
                  <a:srgbClr val="5F6B7A"/>
                </a:solidFill>
                <a:latin typeface="Calibri"/>
              </a:rPr>
              <a:t>104</a:t>
            </a:r>
          </a:p>
        </p:txBody>
      </p:sp>
      <p:sp>
        <p:nvSpPr>
          <p:cNvPr id="28" name="TextBox 27"/>
          <p:cNvSpPr txBox="1"/>
          <p:nvPr/>
        </p:nvSpPr>
        <p:spPr>
          <a:xfrm>
            <a:off x="594360" y="3456432"/>
            <a:ext cx="3657600" cy="274320"/>
          </a:xfrm>
          <a:prstGeom prst="rect">
            <a:avLst/>
          </a:prstGeom>
          <a:noFill/>
        </p:spPr>
        <p:txBody>
          <a:bodyPr wrap="square" lIns="0" rIns="0" tIns="0" bIns="0" anchor="t">
            <a:spAutoFit/>
          </a:bodyPr>
          <a:lstStyle/>
          <a:p>
            <a:pPr algn="l">
              <a:spcAft>
                <a:spcPts val="0"/>
              </a:spcAft>
            </a:pPr>
            <a:r>
              <a:rPr sz="1050" b="0" i="0">
                <a:solidFill>
                  <a:srgbClr val="5F6B7A"/>
                </a:solidFill>
                <a:latin typeface="Calibri"/>
              </a:rPr>
              <a:t>teal = cell present · red = 0x0FFE · white = not sampled</a:t>
            </a:r>
          </a:p>
        </p:txBody>
      </p:sp>
      <p:sp>
        <p:nvSpPr>
          <p:cNvPr id="29" name="TextBox 28"/>
          <p:cNvSpPr txBox="1"/>
          <p:nvPr/>
        </p:nvSpPr>
        <p:spPr>
          <a:xfrm>
            <a:off x="594360" y="1874519"/>
            <a:ext cx="3474720" cy="365760"/>
          </a:xfrm>
          <a:prstGeom prst="rect">
            <a:avLst/>
          </a:prstGeom>
          <a:noFill/>
        </p:spPr>
        <p:txBody>
          <a:bodyPr wrap="square" lIns="0" rIns="0" tIns="0" bIns="0" anchor="t">
            <a:spAutoFit/>
          </a:bodyPr>
          <a:lstStyle/>
          <a:p>
            <a:pPr algn="l">
              <a:spcAft>
                <a:spcPts val="0"/>
              </a:spcAft>
            </a:pPr>
            <a:r>
              <a:rPr sz="1400" b="1" i="0">
                <a:solidFill>
                  <a:srgbClr val="C0392B"/>
                </a:solidFill>
                <a:latin typeface="Consolas"/>
              </a:rPr>
              <a:t>0x0FFE → “5.094 V”</a:t>
            </a:r>
          </a:p>
        </p:txBody>
      </p:sp>
      <p:sp>
        <p:nvSpPr>
          <p:cNvPr id="30" name="TextBox 29"/>
          <p:cNvSpPr txBox="1"/>
          <p:nvPr/>
        </p:nvSpPr>
        <p:spPr>
          <a:xfrm>
            <a:off x="4343400" y="1783080"/>
            <a:ext cx="3429000" cy="1645920"/>
          </a:xfrm>
          <a:prstGeom prst="rect">
            <a:avLst/>
          </a:prstGeom>
          <a:noFill/>
        </p:spPr>
        <p:txBody>
          <a:bodyPr wrap="square" lIns="0" rIns="0" tIns="0" bIns="0" anchor="t">
            <a:spAutoFit/>
          </a:bodyPr>
          <a:lstStyle/>
          <a:p>
            <a:pPr algn="l">
              <a:lnSpc>
                <a:spcPct val="85000"/>
              </a:lnSpc>
              <a:spcAft>
                <a:spcPts val="0"/>
              </a:spcAft>
            </a:pPr>
            <a:r>
              <a:rPr sz="8000" b="0" i="0">
                <a:solidFill>
                  <a:srgbClr val="E06A1B"/>
                </a:solidFill>
                <a:latin typeface="Bahnschrift SemiBold"/>
              </a:rPr>
              <a:t>96</a:t>
            </a:r>
          </a:p>
          <a:p>
            <a:pPr algn="l">
              <a:lnSpc>
                <a:spcPct val="85000"/>
              </a:lnSpc>
              <a:spcAft>
                <a:spcPts val="0"/>
              </a:spcAft>
            </a:pPr>
            <a:r>
              <a:rPr sz="1500" b="0" i="0">
                <a:solidFill>
                  <a:srgbClr val="5F6B7A"/>
                </a:solidFill>
                <a:latin typeface="Calibri"/>
              </a:rPr>
              <a:t>cell-voltage channels</a:t>
            </a:r>
          </a:p>
        </p:txBody>
      </p:sp>
      <p:sp>
        <p:nvSpPr>
          <p:cNvPr id="31" name="Rectangle 30"/>
          <p:cNvSpPr/>
          <p:nvPr/>
        </p:nvSpPr>
        <p:spPr>
          <a:xfrm>
            <a:off x="9818252" y="1965960"/>
            <a:ext cx="172039" cy="777240"/>
          </a:xfrm>
          <a:prstGeom prst="rect">
            <a:avLst/>
          </a:prstGeom>
          <a:solidFill>
            <a:srgbClr val="B9D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03852" y="1719072"/>
            <a:ext cx="1920240" cy="228600"/>
          </a:xfrm>
          <a:prstGeom prst="rect">
            <a:avLst/>
          </a:prstGeom>
          <a:noFill/>
        </p:spPr>
        <p:txBody>
          <a:bodyPr wrap="square" lIns="0" rIns="0" tIns="0" bIns="0" anchor="t">
            <a:spAutoFit/>
          </a:bodyPr>
          <a:lstStyle/>
          <a:p>
            <a:pPr algn="ctr">
              <a:spcAft>
                <a:spcPts val="0"/>
              </a:spcAft>
            </a:pPr>
            <a:r>
              <a:rPr sz="1100" b="0" i="0">
                <a:solidFill>
                  <a:srgbClr val="2F7F72"/>
                </a:solidFill>
                <a:latin typeface="Calibri"/>
              </a:rPr>
              <a:t>measured</a:t>
            </a:r>
          </a:p>
        </p:txBody>
      </p:sp>
      <p:cxnSp>
        <p:nvCxnSpPr>
          <p:cNvPr id="33" name="Connector 32"/>
          <p:cNvCxnSpPr/>
          <p:nvPr/>
        </p:nvCxnSpPr>
        <p:spPr>
          <a:xfrm>
            <a:off x="8183879" y="2743200"/>
            <a:ext cx="3337561" cy="0"/>
          </a:xfrm>
          <a:prstGeom prst="line">
            <a:avLst/>
          </a:prstGeom>
          <a:ln w="12700">
            <a:solidFill>
              <a:srgbClr val="5F6B7A"/>
            </a:solidFill>
          </a:ln>
        </p:spPr>
        <p:style>
          <a:lnRef idx="2">
            <a:schemeClr val="accent1"/>
          </a:lnRef>
          <a:fillRef idx="0">
            <a:schemeClr val="accent1"/>
          </a:fillRef>
          <a:effectRef idx="1">
            <a:schemeClr val="accent1"/>
          </a:effectRef>
          <a:fontRef idx="minor">
            <a:schemeClr val="tx1"/>
          </a:fontRef>
        </p:style>
      </p:cxnSp>
      <p:sp>
        <p:nvSpPr>
          <p:cNvPr id="34" name="Oval 33"/>
          <p:cNvSpPr/>
          <p:nvPr/>
        </p:nvSpPr>
        <p:spPr>
          <a:xfrm>
            <a:off x="8417052" y="2377440"/>
            <a:ext cx="201168" cy="201168"/>
          </a:xfrm>
          <a:prstGeom prst="ellipse">
            <a:avLst/>
          </a:prstGeom>
          <a:solidFill>
            <a:srgbClr val="5F6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68996" y="2852928"/>
            <a:ext cx="1097280" cy="548640"/>
          </a:xfrm>
          <a:prstGeom prst="rect">
            <a:avLst/>
          </a:prstGeom>
          <a:noFill/>
        </p:spPr>
        <p:txBody>
          <a:bodyPr wrap="square" lIns="0" rIns="0" tIns="0" bIns="0" anchor="t">
            <a:spAutoFit/>
          </a:bodyPr>
          <a:lstStyle/>
          <a:p>
            <a:pPr algn="ctr">
              <a:lnSpc>
                <a:spcPct val="90000"/>
              </a:lnSpc>
              <a:spcAft>
                <a:spcPts val="0"/>
              </a:spcAft>
            </a:pPr>
            <a:r>
              <a:rPr sz="1150" b="0" i="0">
                <a:solidFill>
                  <a:srgbClr val="5F6B7A"/>
                </a:solidFill>
                <a:latin typeface="Calibri"/>
              </a:rPr>
              <a:t>N = 95</a:t>
            </a:r>
          </a:p>
          <a:p>
            <a:pPr algn="ctr">
              <a:lnSpc>
                <a:spcPct val="90000"/>
              </a:lnSpc>
              <a:spcAft>
                <a:spcPts val="0"/>
              </a:spcAft>
            </a:pPr>
            <a:r>
              <a:rPr sz="1150" b="0" i="0">
                <a:solidFill>
                  <a:srgbClr val="5F6B7A"/>
                </a:solidFill>
                <a:latin typeface="Calibri"/>
              </a:rPr>
              <a:t>369.5 V</a:t>
            </a:r>
          </a:p>
        </p:txBody>
      </p:sp>
      <p:sp>
        <p:nvSpPr>
          <p:cNvPr id="36" name="Oval 35"/>
          <p:cNvSpPr/>
          <p:nvPr/>
        </p:nvSpPr>
        <p:spPr>
          <a:xfrm>
            <a:off x="9752076" y="2377440"/>
            <a:ext cx="201168" cy="201168"/>
          </a:xfrm>
          <a:prstGeom prst="ellipse">
            <a:avLst/>
          </a:prstGeom>
          <a:solidFill>
            <a:srgbClr val="E06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304020" y="2852928"/>
            <a:ext cx="1097280" cy="548640"/>
          </a:xfrm>
          <a:prstGeom prst="rect">
            <a:avLst/>
          </a:prstGeom>
          <a:noFill/>
        </p:spPr>
        <p:txBody>
          <a:bodyPr wrap="square" lIns="0" rIns="0" tIns="0" bIns="0" anchor="t">
            <a:spAutoFit/>
          </a:bodyPr>
          <a:lstStyle/>
          <a:p>
            <a:pPr algn="ctr">
              <a:lnSpc>
                <a:spcPct val="90000"/>
              </a:lnSpc>
              <a:spcAft>
                <a:spcPts val="0"/>
              </a:spcAft>
            </a:pPr>
            <a:r>
              <a:rPr sz="1150" b="1" i="0">
                <a:solidFill>
                  <a:srgbClr val="E06A1B"/>
                </a:solidFill>
                <a:latin typeface="Calibri"/>
              </a:rPr>
              <a:t>N = 96</a:t>
            </a:r>
          </a:p>
          <a:p>
            <a:pPr algn="ctr">
              <a:lnSpc>
                <a:spcPct val="90000"/>
              </a:lnSpc>
              <a:spcAft>
                <a:spcPts val="0"/>
              </a:spcAft>
            </a:pPr>
            <a:r>
              <a:rPr sz="1150" b="0" i="0">
                <a:solidFill>
                  <a:srgbClr val="5F6B7A"/>
                </a:solidFill>
                <a:latin typeface="Calibri"/>
              </a:rPr>
              <a:t>373.4 V</a:t>
            </a:r>
          </a:p>
        </p:txBody>
      </p:sp>
      <p:sp>
        <p:nvSpPr>
          <p:cNvPr id="38" name="Oval 37"/>
          <p:cNvSpPr/>
          <p:nvPr/>
        </p:nvSpPr>
        <p:spPr>
          <a:xfrm>
            <a:off x="11090540" y="2377440"/>
            <a:ext cx="201168" cy="201168"/>
          </a:xfrm>
          <a:prstGeom prst="ellipse">
            <a:avLst/>
          </a:prstGeom>
          <a:solidFill>
            <a:srgbClr val="5F6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642484" y="2852928"/>
            <a:ext cx="1097280" cy="548640"/>
          </a:xfrm>
          <a:prstGeom prst="rect">
            <a:avLst/>
          </a:prstGeom>
          <a:noFill/>
        </p:spPr>
        <p:txBody>
          <a:bodyPr wrap="square" lIns="0" rIns="0" tIns="0" bIns="0" anchor="t">
            <a:spAutoFit/>
          </a:bodyPr>
          <a:lstStyle/>
          <a:p>
            <a:pPr algn="ctr">
              <a:lnSpc>
                <a:spcPct val="90000"/>
              </a:lnSpc>
              <a:spcAft>
                <a:spcPts val="0"/>
              </a:spcAft>
            </a:pPr>
            <a:r>
              <a:rPr sz="1150" b="0" i="0">
                <a:solidFill>
                  <a:srgbClr val="5F6B7A"/>
                </a:solidFill>
                <a:latin typeface="Calibri"/>
              </a:rPr>
              <a:t>N = 97</a:t>
            </a:r>
          </a:p>
          <a:p>
            <a:pPr algn="ctr">
              <a:lnSpc>
                <a:spcPct val="90000"/>
              </a:lnSpc>
              <a:spcAft>
                <a:spcPts val="0"/>
              </a:spcAft>
            </a:pPr>
            <a:r>
              <a:rPr sz="1150" b="0" i="0">
                <a:solidFill>
                  <a:srgbClr val="5F6B7A"/>
                </a:solidFill>
                <a:latin typeface="Calibri"/>
              </a:rPr>
              <a:t>377.2 V</a:t>
            </a:r>
          </a:p>
        </p:txBody>
      </p:sp>
      <p:sp>
        <p:nvSpPr>
          <p:cNvPr id="40" name="TextBox 39"/>
          <p:cNvSpPr txBox="1"/>
          <p:nvPr/>
        </p:nvSpPr>
        <p:spPr>
          <a:xfrm>
            <a:off x="594360" y="5943600"/>
            <a:ext cx="10972800" cy="320040"/>
          </a:xfrm>
          <a:prstGeom prst="rect">
            <a:avLst/>
          </a:prstGeom>
          <a:noFill/>
        </p:spPr>
        <p:txBody>
          <a:bodyPr wrap="square" lIns="0" rIns="0" tIns="0" bIns="0" anchor="t">
            <a:spAutoFit/>
          </a:bodyPr>
          <a:lstStyle/>
          <a:p>
            <a:pPr algn="l">
              <a:spcAft>
                <a:spcPts val="0"/>
              </a:spcAft>
            </a:pPr>
            <a:r>
              <a:rPr sz="1300" b="0" i="0">
                <a:solidFill>
                  <a:srgbClr val="5F6B7A"/>
                </a:solidFill>
                <a:latin typeface="Calibri"/>
              </a:rPr>
              <a:t>Volkswagen publishes 288 cells in 12 modules; 96 series groups means three cells in parallel per group.</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8229600" cy="274320"/>
          </a:xfrm>
          <a:prstGeom prst="rect">
            <a:avLst/>
          </a:prstGeom>
          <a:noFill/>
        </p:spPr>
        <p:txBody>
          <a:bodyPr wrap="square" lIns="0" rIns="0" tIns="0" bIns="0" anchor="t">
            <a:spAutoFit/>
          </a:bodyPr>
          <a:lstStyle/>
          <a:p>
            <a:pPr algn="l">
              <a:spcAft>
                <a:spcPts val="0"/>
              </a:spcAft>
            </a:pPr>
            <a:r>
              <a:rPr sz="1100" b="0" i="0">
                <a:solidFill>
                  <a:srgbClr val="2F7F72"/>
                </a:solidFill>
                <a:latin typeface="Bahnschrift SemiBold"/>
              </a:rPr>
              <a:t>RESEARCH QUESTION 4 · HOW TRUE IS IT?</a:t>
            </a:r>
          </a:p>
        </p:txBody>
      </p:sp>
      <p:sp>
        <p:nvSpPr>
          <p:cNvPr id="3" name="TextBox 2"/>
          <p:cNvSpPr txBox="1"/>
          <p:nvPr/>
        </p:nvSpPr>
        <p:spPr>
          <a:xfrm>
            <a:off x="594360" y="658368"/>
            <a:ext cx="10972800" cy="1051560"/>
          </a:xfrm>
          <a:prstGeom prst="rect">
            <a:avLst/>
          </a:prstGeom>
          <a:noFill/>
        </p:spPr>
        <p:txBody>
          <a:bodyPr wrap="square" lIns="0" rIns="0" tIns="0" bIns="0" anchor="t">
            <a:spAutoFit/>
          </a:bodyPr>
          <a:lstStyle/>
          <a:p>
            <a:pPr algn="l">
              <a:lnSpc>
                <a:spcPct val="95000"/>
              </a:lnSpc>
              <a:spcAft>
                <a:spcPts val="0"/>
              </a:spcAft>
            </a:pPr>
            <a:r>
              <a:rPr sz="2700" b="0" i="0">
                <a:solidFill>
                  <a:srgbClr val="1B2430"/>
                </a:solidFill>
                <a:latin typeface="Bahnschrift SemiBold"/>
              </a:rPr>
              <a:t>Only two signals are confirmed against the real world; the rest rest on physics or on plausibility</a:t>
            </a:r>
          </a:p>
        </p:txBody>
      </p:sp>
      <p:sp>
        <p:nvSpPr>
          <p:cNvPr id="4" name="TextBox 3"/>
          <p:cNvSpPr txBox="1"/>
          <p:nvPr/>
        </p:nvSpPr>
        <p:spPr>
          <a:xfrm>
            <a:off x="10972800" y="6419088"/>
            <a:ext cx="621792" cy="228600"/>
          </a:xfrm>
          <a:prstGeom prst="rect">
            <a:avLst/>
          </a:prstGeom>
          <a:noFill/>
        </p:spPr>
        <p:txBody>
          <a:bodyPr wrap="square" lIns="0" rIns="0" tIns="0" bIns="0" anchor="t">
            <a:spAutoFit/>
          </a:bodyPr>
          <a:lstStyle/>
          <a:p>
            <a:pPr algn="r">
              <a:spcAft>
                <a:spcPts val="0"/>
              </a:spcAft>
            </a:pPr>
            <a:r>
              <a:rPr sz="1000" b="0" i="0">
                <a:solidFill>
                  <a:srgbClr val="5F6B7A"/>
                </a:solidFill>
                <a:latin typeface="Calibri"/>
              </a:rPr>
              <a:t>13 / 15</a:t>
            </a:r>
          </a:p>
        </p:txBody>
      </p:sp>
      <p:sp>
        <p:nvSpPr>
          <p:cNvPr id="5" name="Rectangle 4"/>
          <p:cNvSpPr/>
          <p:nvPr/>
        </p:nvSpPr>
        <p:spPr>
          <a:xfrm>
            <a:off x="594360" y="1828800"/>
            <a:ext cx="868680" cy="914400"/>
          </a:xfrm>
          <a:prstGeom prst="rect">
            <a:avLst/>
          </a:prstGeom>
          <a:solidFill>
            <a:srgbClr val="2F7F7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3000" b="0">
                <a:solidFill>
                  <a:srgbClr val="FFFFFF"/>
                </a:solidFill>
                <a:latin typeface="Bahnschrift SemiBold"/>
              </a:rPr>
              <a:t>A</a:t>
            </a:r>
          </a:p>
        </p:txBody>
      </p:sp>
      <p:sp>
        <p:nvSpPr>
          <p:cNvPr id="6" name="TextBox 5"/>
          <p:cNvSpPr txBox="1"/>
          <p:nvPr/>
        </p:nvSpPr>
        <p:spPr>
          <a:xfrm>
            <a:off x="1691640" y="1828800"/>
            <a:ext cx="2926080" cy="914400"/>
          </a:xfrm>
          <a:prstGeom prst="rect">
            <a:avLst/>
          </a:prstGeom>
          <a:noFill/>
        </p:spPr>
        <p:txBody>
          <a:bodyPr wrap="square" lIns="0" rIns="0" tIns="0" bIns="0" anchor="ctr">
            <a:spAutoFit/>
          </a:bodyPr>
          <a:lstStyle/>
          <a:p>
            <a:pPr algn="l">
              <a:lnSpc>
                <a:spcPct val="95000"/>
              </a:lnSpc>
              <a:spcAft>
                <a:spcPts val="0"/>
              </a:spcAft>
            </a:pPr>
            <a:r>
              <a:rPr sz="1700" b="1" i="0">
                <a:solidFill>
                  <a:srgbClr val="1B2430"/>
                </a:solidFill>
                <a:latin typeface="Calibri"/>
              </a:rPr>
              <a:t>directly validated</a:t>
            </a:r>
          </a:p>
          <a:p>
            <a:pPr algn="l">
              <a:lnSpc>
                <a:spcPct val="95000"/>
              </a:lnSpc>
              <a:spcAft>
                <a:spcPts val="0"/>
              </a:spcAft>
            </a:pPr>
            <a:r>
              <a:rPr sz="1400" b="0" i="0">
                <a:solidFill>
                  <a:srgbClr val="5F6B7A"/>
                </a:solidFill>
                <a:latin typeface="Calibri"/>
              </a:rPr>
              <a:t>2 signals</a:t>
            </a:r>
          </a:p>
        </p:txBody>
      </p:sp>
      <p:sp>
        <p:nvSpPr>
          <p:cNvPr id="7" name="TextBox 6"/>
          <p:cNvSpPr txBox="1"/>
          <p:nvPr/>
        </p:nvSpPr>
        <p:spPr>
          <a:xfrm>
            <a:off x="4754880" y="1828800"/>
            <a:ext cx="6858000" cy="914400"/>
          </a:xfrm>
          <a:prstGeom prst="rect">
            <a:avLst/>
          </a:prstGeom>
          <a:noFill/>
        </p:spPr>
        <p:txBody>
          <a:bodyPr wrap="square" lIns="0" rIns="0" tIns="0" bIns="0" anchor="ctr">
            <a:spAutoFit/>
          </a:bodyPr>
          <a:lstStyle/>
          <a:p>
            <a:pPr algn="l">
              <a:lnSpc>
                <a:spcPct val="95000"/>
              </a:lnSpc>
              <a:spcAft>
                <a:spcPts val="0"/>
              </a:spcAft>
            </a:pPr>
            <a:r>
              <a:rPr sz="1450" b="0" i="0">
                <a:solidFill>
                  <a:srgbClr val="1B2430"/>
                </a:solidFill>
                <a:latin typeface="Calibri"/>
              </a:rPr>
              <a:t>operation mode = drive-ready, speed = 0 km/h: matches what was observed in the car</a:t>
            </a:r>
          </a:p>
        </p:txBody>
      </p:sp>
      <p:cxnSp>
        <p:nvCxnSpPr>
          <p:cNvPr id="8" name="Connector 7"/>
          <p:cNvCxnSpPr/>
          <p:nvPr/>
        </p:nvCxnSpPr>
        <p:spPr>
          <a:xfrm>
            <a:off x="1691640" y="2825496"/>
            <a:ext cx="9921240" cy="0"/>
          </a:xfrm>
          <a:prstGeom prst="line">
            <a:avLst/>
          </a:prstGeom>
          <a:ln w="9525">
            <a:solidFill>
              <a:srgbClr val="D9DEE4"/>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594360" y="2907791"/>
            <a:ext cx="868680" cy="914400"/>
          </a:xfrm>
          <a:prstGeom prst="rect">
            <a:avLst/>
          </a:prstGeom>
          <a:solidFill>
            <a:srgbClr val="B9DBD4"/>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3000" b="0">
                <a:solidFill>
                  <a:srgbClr val="1B2430"/>
                </a:solidFill>
                <a:latin typeface="Bahnschrift SemiBold"/>
              </a:rPr>
              <a:t>B</a:t>
            </a:r>
          </a:p>
        </p:txBody>
      </p:sp>
      <p:sp>
        <p:nvSpPr>
          <p:cNvPr id="10" name="TextBox 9"/>
          <p:cNvSpPr txBox="1"/>
          <p:nvPr/>
        </p:nvSpPr>
        <p:spPr>
          <a:xfrm>
            <a:off x="1691640" y="2907791"/>
            <a:ext cx="2926080" cy="914400"/>
          </a:xfrm>
          <a:prstGeom prst="rect">
            <a:avLst/>
          </a:prstGeom>
          <a:noFill/>
        </p:spPr>
        <p:txBody>
          <a:bodyPr wrap="square" lIns="0" rIns="0" tIns="0" bIns="0" anchor="ctr">
            <a:spAutoFit/>
          </a:bodyPr>
          <a:lstStyle/>
          <a:p>
            <a:pPr algn="l">
              <a:lnSpc>
                <a:spcPct val="95000"/>
              </a:lnSpc>
              <a:spcAft>
                <a:spcPts val="0"/>
              </a:spcAft>
            </a:pPr>
            <a:r>
              <a:rPr sz="1700" b="1" i="0">
                <a:solidFill>
                  <a:srgbClr val="1B2430"/>
                </a:solidFill>
                <a:latin typeface="Calibri"/>
              </a:rPr>
              <a:t>indirectly validated</a:t>
            </a:r>
          </a:p>
          <a:p>
            <a:pPr algn="l">
              <a:lnSpc>
                <a:spcPct val="95000"/>
              </a:lnSpc>
              <a:spcAft>
                <a:spcPts val="0"/>
              </a:spcAft>
            </a:pPr>
            <a:r>
              <a:rPr sz="1400" b="0" i="0">
                <a:solidFill>
                  <a:srgbClr val="5F6B7A"/>
                </a:solidFill>
                <a:latin typeface="Calibri"/>
              </a:rPr>
              <a:t>≈ 12 signals</a:t>
            </a:r>
          </a:p>
        </p:txBody>
      </p:sp>
      <p:sp>
        <p:nvSpPr>
          <p:cNvPr id="11" name="TextBox 10"/>
          <p:cNvSpPr txBox="1"/>
          <p:nvPr/>
        </p:nvSpPr>
        <p:spPr>
          <a:xfrm>
            <a:off x="4754880" y="2907791"/>
            <a:ext cx="6858000" cy="914400"/>
          </a:xfrm>
          <a:prstGeom prst="rect">
            <a:avLst/>
          </a:prstGeom>
          <a:noFill/>
        </p:spPr>
        <p:txBody>
          <a:bodyPr wrap="square" lIns="0" rIns="0" tIns="0" bIns="0" anchor="ctr">
            <a:spAutoFit/>
          </a:bodyPr>
          <a:lstStyle/>
          <a:p>
            <a:pPr algn="l">
              <a:lnSpc>
                <a:spcPct val="95000"/>
              </a:lnSpc>
              <a:spcAft>
                <a:spcPts val="0"/>
              </a:spcAft>
            </a:pPr>
            <a:r>
              <a:rPr sz="1450" b="0" i="0">
                <a:solidFill>
                  <a:srgbClr val="1B2430"/>
                </a:solidFill>
                <a:latin typeface="Calibri"/>
              </a:rPr>
              <a:t>pack voltage, cell voltages, cell extremes, temperatures: tied by relations no formula was fitted to (V_pack / V_cell = 96.0, extremes enclose samples)</a:t>
            </a:r>
          </a:p>
        </p:txBody>
      </p:sp>
      <p:cxnSp>
        <p:nvCxnSpPr>
          <p:cNvPr id="12" name="Connector 11"/>
          <p:cNvCxnSpPr/>
          <p:nvPr/>
        </p:nvCxnSpPr>
        <p:spPr>
          <a:xfrm>
            <a:off x="1691640" y="3904487"/>
            <a:ext cx="9921240" cy="0"/>
          </a:xfrm>
          <a:prstGeom prst="line">
            <a:avLst/>
          </a:prstGeom>
          <a:ln w="9525">
            <a:solidFill>
              <a:srgbClr val="D9DEE4"/>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594360" y="3986783"/>
            <a:ext cx="868680" cy="914400"/>
          </a:xfrm>
          <a:prstGeom prst="rect">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3000" b="0">
                <a:solidFill>
                  <a:srgbClr val="1B2430"/>
                </a:solidFill>
                <a:latin typeface="Bahnschrift SemiBold"/>
              </a:rPr>
              <a:t>C</a:t>
            </a:r>
          </a:p>
        </p:txBody>
      </p:sp>
      <p:sp>
        <p:nvSpPr>
          <p:cNvPr id="14" name="TextBox 13"/>
          <p:cNvSpPr txBox="1"/>
          <p:nvPr/>
        </p:nvSpPr>
        <p:spPr>
          <a:xfrm>
            <a:off x="1691640" y="3986783"/>
            <a:ext cx="2926080" cy="914400"/>
          </a:xfrm>
          <a:prstGeom prst="rect">
            <a:avLst/>
          </a:prstGeom>
          <a:noFill/>
        </p:spPr>
        <p:txBody>
          <a:bodyPr wrap="square" lIns="0" rIns="0" tIns="0" bIns="0" anchor="ctr">
            <a:spAutoFit/>
          </a:bodyPr>
          <a:lstStyle/>
          <a:p>
            <a:pPr algn="l">
              <a:lnSpc>
                <a:spcPct val="95000"/>
              </a:lnSpc>
              <a:spcAft>
                <a:spcPts val="0"/>
              </a:spcAft>
            </a:pPr>
            <a:r>
              <a:rPr sz="1700" b="1" i="0">
                <a:solidFill>
                  <a:srgbClr val="1B2430"/>
                </a:solidFill>
                <a:latin typeface="Calibri"/>
              </a:rPr>
              <a:t>plausible, unconfirmed</a:t>
            </a:r>
          </a:p>
          <a:p>
            <a:pPr algn="l">
              <a:lnSpc>
                <a:spcPct val="95000"/>
              </a:lnSpc>
              <a:spcAft>
                <a:spcPts val="0"/>
              </a:spcAft>
            </a:pPr>
            <a:r>
              <a:rPr sz="1400" b="0" i="0">
                <a:solidFill>
                  <a:srgbClr val="5F6B7A"/>
                </a:solidFill>
                <a:latin typeface="Calibri"/>
              </a:rPr>
              <a:t>the remainder</a:t>
            </a:r>
          </a:p>
        </p:txBody>
      </p:sp>
      <p:sp>
        <p:nvSpPr>
          <p:cNvPr id="15" name="TextBox 14"/>
          <p:cNvSpPr txBox="1"/>
          <p:nvPr/>
        </p:nvSpPr>
        <p:spPr>
          <a:xfrm>
            <a:off x="4754880" y="3986783"/>
            <a:ext cx="6858000" cy="914400"/>
          </a:xfrm>
          <a:prstGeom prst="rect">
            <a:avLst/>
          </a:prstGeom>
          <a:noFill/>
        </p:spPr>
        <p:txBody>
          <a:bodyPr wrap="square" lIns="0" rIns="0" tIns="0" bIns="0" anchor="ctr">
            <a:spAutoFit/>
          </a:bodyPr>
          <a:lstStyle/>
          <a:p>
            <a:pPr algn="l">
              <a:lnSpc>
                <a:spcPct val="95000"/>
              </a:lnSpc>
              <a:spcAft>
                <a:spcPts val="0"/>
              </a:spcAft>
            </a:pPr>
            <a:r>
              <a:rPr sz="1450" b="0" i="0">
                <a:solidFill>
                  <a:srgbClr val="1B2430"/>
                </a:solidFill>
                <a:latin typeface="Calibri"/>
              </a:rPr>
              <a:t>state of charge, power limits, pack current, 12 V, outdoor temperature, odometer: sensible magnitude, no independent reference</a:t>
            </a:r>
          </a:p>
        </p:txBody>
      </p:sp>
      <p:cxnSp>
        <p:nvCxnSpPr>
          <p:cNvPr id="16" name="Connector 15"/>
          <p:cNvCxnSpPr/>
          <p:nvPr/>
        </p:nvCxnSpPr>
        <p:spPr>
          <a:xfrm>
            <a:off x="1691640" y="4983479"/>
            <a:ext cx="9921240" cy="0"/>
          </a:xfrm>
          <a:prstGeom prst="line">
            <a:avLst/>
          </a:prstGeom>
          <a:ln w="9525">
            <a:solidFill>
              <a:srgbClr val="D9DEE4"/>
            </a:solidFill>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594360" y="5065776"/>
            <a:ext cx="868680" cy="914400"/>
          </a:xfrm>
          <a:prstGeom prst="rect">
            <a:avLst/>
          </a:prstGeom>
          <a:solidFill>
            <a:srgbClr val="FFFFFF"/>
          </a:solidFill>
          <a:ln w="12700">
            <a:solidFill>
              <a:srgbClr val="D9DEE4"/>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3000" b="0">
                <a:solidFill>
                  <a:srgbClr val="1B2430"/>
                </a:solidFill>
                <a:latin typeface="Bahnschrift SemiBold"/>
              </a:rPr>
              <a:t>D</a:t>
            </a:r>
          </a:p>
        </p:txBody>
      </p:sp>
      <p:sp>
        <p:nvSpPr>
          <p:cNvPr id="18" name="TextBox 17"/>
          <p:cNvSpPr txBox="1"/>
          <p:nvPr/>
        </p:nvSpPr>
        <p:spPr>
          <a:xfrm>
            <a:off x="1691640" y="5065776"/>
            <a:ext cx="2926080" cy="914400"/>
          </a:xfrm>
          <a:prstGeom prst="rect">
            <a:avLst/>
          </a:prstGeom>
          <a:noFill/>
        </p:spPr>
        <p:txBody>
          <a:bodyPr wrap="square" lIns="0" rIns="0" tIns="0" bIns="0" anchor="ctr">
            <a:spAutoFit/>
          </a:bodyPr>
          <a:lstStyle/>
          <a:p>
            <a:pPr algn="l">
              <a:lnSpc>
                <a:spcPct val="95000"/>
              </a:lnSpc>
              <a:spcAft>
                <a:spcPts val="0"/>
              </a:spcAft>
            </a:pPr>
            <a:r>
              <a:rPr sz="1700" b="1" i="0">
                <a:solidFill>
                  <a:srgbClr val="1B2430"/>
                </a:solidFill>
                <a:latin typeface="Calibri"/>
              </a:rPr>
              <a:t>invalid or unexplained</a:t>
            </a:r>
          </a:p>
          <a:p>
            <a:pPr algn="l">
              <a:lnSpc>
                <a:spcPct val="95000"/>
              </a:lnSpc>
              <a:spcAft>
                <a:spcPts val="0"/>
              </a:spcAft>
            </a:pPr>
            <a:r>
              <a:rPr sz="1400" b="0" i="0">
                <a:solidFill>
                  <a:srgbClr val="5F6B7A"/>
                </a:solidFill>
                <a:latin typeface="Calibri"/>
              </a:rPr>
              <a:t>6 signals</a:t>
            </a:r>
          </a:p>
        </p:txBody>
      </p:sp>
      <p:sp>
        <p:nvSpPr>
          <p:cNvPr id="19" name="TextBox 18"/>
          <p:cNvSpPr txBox="1"/>
          <p:nvPr/>
        </p:nvSpPr>
        <p:spPr>
          <a:xfrm>
            <a:off x="4754880" y="5065776"/>
            <a:ext cx="6858000" cy="914400"/>
          </a:xfrm>
          <a:prstGeom prst="rect">
            <a:avLst/>
          </a:prstGeom>
          <a:noFill/>
        </p:spPr>
        <p:txBody>
          <a:bodyPr wrap="square" lIns="0" rIns="0" tIns="0" bIns="0" anchor="ctr">
            <a:spAutoFit/>
          </a:bodyPr>
          <a:lstStyle/>
          <a:p>
            <a:pPr algn="l">
              <a:lnSpc>
                <a:spcPct val="95000"/>
              </a:lnSpc>
              <a:spcAft>
                <a:spcPts val="0"/>
              </a:spcAft>
            </a:pPr>
            <a:r>
              <a:rPr sz="1450" b="0" i="0">
                <a:solidFill>
                  <a:srgbClr val="1B2430"/>
                </a:solidFill>
                <a:latin typeface="Calibri"/>
              </a:rPr>
              <a:t>three 0x0FFE slots, A/C compressor status, two unanswered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8229600" cy="274320"/>
          </a:xfrm>
          <a:prstGeom prst="rect">
            <a:avLst/>
          </a:prstGeom>
          <a:noFill/>
        </p:spPr>
        <p:txBody>
          <a:bodyPr wrap="square" lIns="0" rIns="0" tIns="0" bIns="0" anchor="t">
            <a:spAutoFit/>
          </a:bodyPr>
          <a:lstStyle/>
          <a:p>
            <a:pPr algn="l">
              <a:spcAft>
                <a:spcPts val="0"/>
              </a:spcAft>
            </a:pPr>
            <a:r>
              <a:rPr sz="1100" b="0" i="0">
                <a:solidFill>
                  <a:srgbClr val="2F7F72"/>
                </a:solidFill>
                <a:latin typeface="Bahnschrift SemiBold"/>
              </a:rPr>
              <a:t>DISCUSSION · LIMITS AND OUTLOOK</a:t>
            </a:r>
          </a:p>
        </p:txBody>
      </p:sp>
      <p:sp>
        <p:nvSpPr>
          <p:cNvPr id="3" name="TextBox 2"/>
          <p:cNvSpPr txBox="1"/>
          <p:nvPr/>
        </p:nvSpPr>
        <p:spPr>
          <a:xfrm>
            <a:off x="594360" y="658368"/>
            <a:ext cx="10972800" cy="1051560"/>
          </a:xfrm>
          <a:prstGeom prst="rect">
            <a:avLst/>
          </a:prstGeom>
          <a:noFill/>
        </p:spPr>
        <p:txBody>
          <a:bodyPr wrap="square" lIns="0" rIns="0" tIns="0" bIns="0" anchor="t">
            <a:spAutoFit/>
          </a:bodyPr>
          <a:lstStyle/>
          <a:p>
            <a:pPr algn="l">
              <a:lnSpc>
                <a:spcPct val="95000"/>
              </a:lnSpc>
              <a:spcAft>
                <a:spcPts val="0"/>
              </a:spcAft>
            </a:pPr>
            <a:r>
              <a:rPr sz="2700" b="0" i="0">
                <a:solidFill>
                  <a:srgbClr val="1B2430"/>
                </a:solidFill>
                <a:latin typeface="Bahnschrift SemiBold"/>
              </a:rPr>
              <a:t>The method works at a standstill; current, charging and battery health are the next step</a:t>
            </a:r>
          </a:p>
        </p:txBody>
      </p:sp>
      <p:sp>
        <p:nvSpPr>
          <p:cNvPr id="4" name="TextBox 3"/>
          <p:cNvSpPr txBox="1"/>
          <p:nvPr/>
        </p:nvSpPr>
        <p:spPr>
          <a:xfrm>
            <a:off x="10972800" y="6419088"/>
            <a:ext cx="621792" cy="228600"/>
          </a:xfrm>
          <a:prstGeom prst="rect">
            <a:avLst/>
          </a:prstGeom>
          <a:noFill/>
        </p:spPr>
        <p:txBody>
          <a:bodyPr wrap="square" lIns="0" rIns="0" tIns="0" bIns="0" anchor="t">
            <a:spAutoFit/>
          </a:bodyPr>
          <a:lstStyle/>
          <a:p>
            <a:pPr algn="r">
              <a:spcAft>
                <a:spcPts val="0"/>
              </a:spcAft>
            </a:pPr>
            <a:r>
              <a:rPr sz="1000" b="0" i="0">
                <a:solidFill>
                  <a:srgbClr val="5F6B7A"/>
                </a:solidFill>
                <a:latin typeface="Calibri"/>
              </a:rPr>
              <a:t>14 / 15</a:t>
            </a:r>
          </a:p>
        </p:txBody>
      </p:sp>
      <p:sp>
        <p:nvSpPr>
          <p:cNvPr id="5" name="TextBox 4"/>
          <p:cNvSpPr txBox="1"/>
          <p:nvPr/>
        </p:nvSpPr>
        <p:spPr>
          <a:xfrm>
            <a:off x="594360" y="1783080"/>
            <a:ext cx="5029200" cy="274320"/>
          </a:xfrm>
          <a:prstGeom prst="rect">
            <a:avLst/>
          </a:prstGeom>
          <a:noFill/>
        </p:spPr>
        <p:txBody>
          <a:bodyPr wrap="square" lIns="0" rIns="0" tIns="0" bIns="0" anchor="t">
            <a:spAutoFit/>
          </a:bodyPr>
          <a:lstStyle/>
          <a:p>
            <a:pPr algn="l">
              <a:spcAft>
                <a:spcPts val="0"/>
              </a:spcAft>
            </a:pPr>
            <a:r>
              <a:rPr sz="1100" b="0" i="0">
                <a:solidFill>
                  <a:srgbClr val="5F6B7A"/>
                </a:solidFill>
                <a:latin typeface="Bahnschrift SemiBold"/>
              </a:rPr>
              <a:t>LIMIT IN THIS WORK</a:t>
            </a:r>
          </a:p>
        </p:txBody>
      </p:sp>
      <p:sp>
        <p:nvSpPr>
          <p:cNvPr id="6" name="TextBox 5"/>
          <p:cNvSpPr txBox="1"/>
          <p:nvPr/>
        </p:nvSpPr>
        <p:spPr>
          <a:xfrm>
            <a:off x="6537960" y="1783080"/>
            <a:ext cx="5029200" cy="274320"/>
          </a:xfrm>
          <a:prstGeom prst="rect">
            <a:avLst/>
          </a:prstGeom>
          <a:noFill/>
        </p:spPr>
        <p:txBody>
          <a:bodyPr wrap="square" lIns="0" rIns="0" tIns="0" bIns="0" anchor="t">
            <a:spAutoFit/>
          </a:bodyPr>
          <a:lstStyle/>
          <a:p>
            <a:pPr algn="l">
              <a:spcAft>
                <a:spcPts val="0"/>
              </a:spcAft>
            </a:pPr>
            <a:r>
              <a:rPr sz="1100" b="0" i="0">
                <a:solidFill>
                  <a:srgbClr val="5F6B7A"/>
                </a:solidFill>
                <a:latin typeface="Bahnschrift SemiBold"/>
              </a:rPr>
              <a:t>WHAT REMOVES IT</a:t>
            </a:r>
          </a:p>
        </p:txBody>
      </p:sp>
      <p:sp>
        <p:nvSpPr>
          <p:cNvPr id="7" name="Rectangle 6"/>
          <p:cNvSpPr/>
          <p:nvPr/>
        </p:nvSpPr>
        <p:spPr>
          <a:xfrm>
            <a:off x="594360" y="2194560"/>
            <a:ext cx="5349240" cy="749808"/>
          </a:xfrm>
          <a:prstGeom prst="rect">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94560"/>
            <a:ext cx="5029200" cy="749808"/>
          </a:xfrm>
          <a:prstGeom prst="rect">
            <a:avLst/>
          </a:prstGeom>
          <a:noFill/>
        </p:spPr>
        <p:txBody>
          <a:bodyPr wrap="square" lIns="0" rIns="0" tIns="0" bIns="0" anchor="ctr">
            <a:spAutoFit/>
          </a:bodyPr>
          <a:lstStyle/>
          <a:p>
            <a:pPr algn="l">
              <a:lnSpc>
                <a:spcPct val="95000"/>
              </a:lnSpc>
              <a:spcAft>
                <a:spcPts val="0"/>
              </a:spcAft>
            </a:pPr>
            <a:r>
              <a:rPr sz="1450" b="0" i="0">
                <a:solidFill>
                  <a:srgbClr val="1B2430"/>
                </a:solidFill>
                <a:latin typeface="Calibri"/>
              </a:rPr>
              <a:t>All recordings stationary: current and power never left idle</a:t>
            </a:r>
          </a:p>
        </p:txBody>
      </p:sp>
      <p:cxnSp>
        <p:nvCxnSpPr>
          <p:cNvPr id="9" name="Connector 8"/>
          <p:cNvCxnSpPr/>
          <p:nvPr/>
        </p:nvCxnSpPr>
        <p:spPr>
          <a:xfrm>
            <a:off x="5989320" y="2569464"/>
            <a:ext cx="502920" cy="0"/>
          </a:xfrm>
          <a:prstGeom prst="line">
            <a:avLst/>
          </a:prstGeom>
          <a:ln w="25400">
            <a:solidFill>
              <a:srgbClr val="2F7F72"/>
            </a:solidFill>
            <a:tailEnd type="triangle" w="med" h="med"/>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537960" y="2194560"/>
            <a:ext cx="5029200" cy="749808"/>
          </a:xfrm>
          <a:prstGeom prst="rect">
            <a:avLst/>
          </a:prstGeom>
          <a:noFill/>
        </p:spPr>
        <p:txBody>
          <a:bodyPr wrap="square" lIns="0" rIns="0" tIns="0" bIns="0" anchor="ctr">
            <a:spAutoFit/>
          </a:bodyPr>
          <a:lstStyle/>
          <a:p>
            <a:pPr algn="l">
              <a:lnSpc>
                <a:spcPct val="95000"/>
              </a:lnSpc>
              <a:spcAft>
                <a:spcPts val="0"/>
              </a:spcAft>
            </a:pPr>
            <a:r>
              <a:rPr sz="1450" b="1" i="0">
                <a:solidFill>
                  <a:srgbClr val="2F7F72"/>
                </a:solidFill>
                <a:latin typeface="Calibri"/>
              </a:rPr>
              <a:t>Drive at 50 and 100 km/h, accelerate, brake, DC fast charge</a:t>
            </a:r>
          </a:p>
        </p:txBody>
      </p:sp>
      <p:sp>
        <p:nvSpPr>
          <p:cNvPr id="11" name="Rectangle 10"/>
          <p:cNvSpPr/>
          <p:nvPr/>
        </p:nvSpPr>
        <p:spPr>
          <a:xfrm>
            <a:off x="594360" y="3090672"/>
            <a:ext cx="5349240" cy="749808"/>
          </a:xfrm>
          <a:prstGeom prst="rect">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3090672"/>
            <a:ext cx="5029200" cy="749808"/>
          </a:xfrm>
          <a:prstGeom prst="rect">
            <a:avLst/>
          </a:prstGeom>
          <a:noFill/>
        </p:spPr>
        <p:txBody>
          <a:bodyPr wrap="square" lIns="0" rIns="0" tIns="0" bIns="0" anchor="ctr">
            <a:spAutoFit/>
          </a:bodyPr>
          <a:lstStyle/>
          <a:p>
            <a:pPr algn="l">
              <a:lnSpc>
                <a:spcPct val="95000"/>
              </a:lnSpc>
              <a:spcAft>
                <a:spcPts val="0"/>
              </a:spcAft>
            </a:pPr>
            <a:r>
              <a:rPr sz="1450" b="0" i="0">
                <a:solidFill>
                  <a:srgbClr val="1B2430"/>
                </a:solidFill>
                <a:latin typeface="Calibri"/>
              </a:rPr>
              <a:t>Logger cannot send flow control: 6 long answers truncated, incl. pack current</a:t>
            </a:r>
          </a:p>
        </p:txBody>
      </p:sp>
      <p:cxnSp>
        <p:nvCxnSpPr>
          <p:cNvPr id="13" name="Connector 12"/>
          <p:cNvCxnSpPr/>
          <p:nvPr/>
        </p:nvCxnSpPr>
        <p:spPr>
          <a:xfrm>
            <a:off x="5989320" y="3465576"/>
            <a:ext cx="502920" cy="0"/>
          </a:xfrm>
          <a:prstGeom prst="line">
            <a:avLst/>
          </a:prstGeom>
          <a:ln w="25400">
            <a:solidFill>
              <a:srgbClr val="2F7F72"/>
            </a:solidFill>
            <a:tailEnd type="triangle" w="med" h="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537960" y="3090672"/>
            <a:ext cx="5029200" cy="749808"/>
          </a:xfrm>
          <a:prstGeom prst="rect">
            <a:avLst/>
          </a:prstGeom>
          <a:noFill/>
        </p:spPr>
        <p:txBody>
          <a:bodyPr wrap="square" lIns="0" rIns="0" tIns="0" bIns="0" anchor="ctr">
            <a:spAutoFit/>
          </a:bodyPr>
          <a:lstStyle/>
          <a:p>
            <a:pPr algn="l">
              <a:lnSpc>
                <a:spcPct val="95000"/>
              </a:lnSpc>
              <a:spcAft>
                <a:spcPts val="0"/>
              </a:spcAft>
            </a:pPr>
            <a:r>
              <a:rPr sz="1450" b="1" i="0">
                <a:solidFill>
                  <a:srgbClr val="2F7F72"/>
                </a:solidFill>
                <a:latin typeface="Calibri"/>
              </a:rPr>
              <a:t>Read them with an ISO-TP-capable tester</a:t>
            </a:r>
          </a:p>
        </p:txBody>
      </p:sp>
      <p:sp>
        <p:nvSpPr>
          <p:cNvPr id="15" name="Rectangle 14"/>
          <p:cNvSpPr/>
          <p:nvPr/>
        </p:nvSpPr>
        <p:spPr>
          <a:xfrm>
            <a:off x="594360" y="3986783"/>
            <a:ext cx="5349240" cy="749808"/>
          </a:xfrm>
          <a:prstGeom prst="rect">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3986783"/>
            <a:ext cx="5029200" cy="749808"/>
          </a:xfrm>
          <a:prstGeom prst="rect">
            <a:avLst/>
          </a:prstGeom>
          <a:noFill/>
        </p:spPr>
        <p:txBody>
          <a:bodyPr wrap="square" lIns="0" rIns="0" tIns="0" bIns="0" anchor="ctr">
            <a:spAutoFit/>
          </a:bodyPr>
          <a:lstStyle/>
          <a:p>
            <a:pPr algn="l">
              <a:lnSpc>
                <a:spcPct val="95000"/>
              </a:lnSpc>
              <a:spcAft>
                <a:spcPts val="0"/>
              </a:spcAft>
            </a:pPr>
            <a:r>
              <a:rPr sz="1450" b="0" i="0">
                <a:solidFill>
                  <a:srgbClr val="1B2430"/>
                </a:solidFill>
                <a:latin typeface="Calibri"/>
              </a:rPr>
              <a:t>Gateway queried without a diagnostic session: 2 silent identifiers</a:t>
            </a:r>
          </a:p>
        </p:txBody>
      </p:sp>
      <p:cxnSp>
        <p:nvCxnSpPr>
          <p:cNvPr id="17" name="Connector 16"/>
          <p:cNvCxnSpPr/>
          <p:nvPr/>
        </p:nvCxnSpPr>
        <p:spPr>
          <a:xfrm>
            <a:off x="5989320" y="4361688"/>
            <a:ext cx="502920" cy="0"/>
          </a:xfrm>
          <a:prstGeom prst="line">
            <a:avLst/>
          </a:prstGeom>
          <a:ln w="25400">
            <a:solidFill>
              <a:srgbClr val="2F7F72"/>
            </a:solidFill>
            <a:tailEnd type="triangle" w="med" h="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537960" y="3986783"/>
            <a:ext cx="5029200" cy="749808"/>
          </a:xfrm>
          <a:prstGeom prst="rect">
            <a:avLst/>
          </a:prstGeom>
          <a:noFill/>
        </p:spPr>
        <p:txBody>
          <a:bodyPr wrap="square" lIns="0" rIns="0" tIns="0" bIns="0" anchor="ctr">
            <a:spAutoFit/>
          </a:bodyPr>
          <a:lstStyle/>
          <a:p>
            <a:pPr algn="l">
              <a:lnSpc>
                <a:spcPct val="95000"/>
              </a:lnSpc>
              <a:spcAft>
                <a:spcPts val="0"/>
              </a:spcAft>
            </a:pPr>
            <a:r>
              <a:rPr sz="1450" b="1" i="0">
                <a:solidFill>
                  <a:srgbClr val="2F7F72"/>
                </a:solidFill>
                <a:latin typeface="Calibri"/>
              </a:rPr>
              <a:t>Open a session on the gateway, or address the right unit</a:t>
            </a:r>
          </a:p>
        </p:txBody>
      </p:sp>
      <p:sp>
        <p:nvSpPr>
          <p:cNvPr id="19" name="Rectangle 18"/>
          <p:cNvSpPr/>
          <p:nvPr/>
        </p:nvSpPr>
        <p:spPr>
          <a:xfrm>
            <a:off x="594360" y="4882896"/>
            <a:ext cx="5349240" cy="749808"/>
          </a:xfrm>
          <a:prstGeom prst="rect">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4882896"/>
            <a:ext cx="5029200" cy="749808"/>
          </a:xfrm>
          <a:prstGeom prst="rect">
            <a:avLst/>
          </a:prstGeom>
          <a:noFill/>
        </p:spPr>
        <p:txBody>
          <a:bodyPr wrap="square" lIns="0" rIns="0" tIns="0" bIns="0" anchor="ctr">
            <a:spAutoFit/>
          </a:bodyPr>
          <a:lstStyle/>
          <a:p>
            <a:pPr algn="l">
              <a:lnSpc>
                <a:spcPct val="95000"/>
              </a:lnSpc>
              <a:spcAft>
                <a:spcPts val="0"/>
              </a:spcAft>
            </a:pPr>
            <a:r>
              <a:rPr sz="1450" b="0" i="0">
                <a:solidFill>
                  <a:srgbClr val="1B2430"/>
                </a:solidFill>
                <a:latin typeface="Calibri"/>
              </a:rPr>
              <a:t>State of health not requested; protected identifiers need security access</a:t>
            </a:r>
          </a:p>
        </p:txBody>
      </p:sp>
      <p:cxnSp>
        <p:nvCxnSpPr>
          <p:cNvPr id="21" name="Connector 20"/>
          <p:cNvCxnSpPr/>
          <p:nvPr/>
        </p:nvCxnSpPr>
        <p:spPr>
          <a:xfrm>
            <a:off x="5989320" y="5257800"/>
            <a:ext cx="502920" cy="0"/>
          </a:xfrm>
          <a:prstGeom prst="line">
            <a:avLst/>
          </a:prstGeom>
          <a:ln w="25400">
            <a:solidFill>
              <a:srgbClr val="2F7F72"/>
            </a:solidFill>
            <a:tailEnd type="triangle" w="med" h="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537960" y="4882896"/>
            <a:ext cx="5029200" cy="749808"/>
          </a:xfrm>
          <a:prstGeom prst="rect">
            <a:avLst/>
          </a:prstGeom>
          <a:noFill/>
        </p:spPr>
        <p:txBody>
          <a:bodyPr wrap="square" lIns="0" rIns="0" tIns="0" bIns="0" anchor="ctr">
            <a:spAutoFit/>
          </a:bodyPr>
          <a:lstStyle/>
          <a:p>
            <a:pPr algn="l">
              <a:lnSpc>
                <a:spcPct val="95000"/>
              </a:lnSpc>
              <a:spcAft>
                <a:spcPts val="0"/>
              </a:spcAft>
            </a:pPr>
            <a:r>
              <a:rPr sz="1450" b="1" i="0">
                <a:solidFill>
                  <a:srgbClr val="2F7F72"/>
                </a:solidFill>
                <a:latin typeface="Calibri"/>
              </a:rPr>
              <a:t>Only with manufacturer cooperation, not by bypassing it</a:t>
            </a:r>
          </a:p>
        </p:txBody>
      </p:sp>
      <p:sp>
        <p:nvSpPr>
          <p:cNvPr id="23" name="TextBox 22"/>
          <p:cNvSpPr txBox="1"/>
          <p:nvPr/>
        </p:nvSpPr>
        <p:spPr>
          <a:xfrm>
            <a:off x="594360" y="5852160"/>
            <a:ext cx="10972800" cy="365760"/>
          </a:xfrm>
          <a:prstGeom prst="rect">
            <a:avLst/>
          </a:prstGeom>
          <a:noFill/>
        </p:spPr>
        <p:txBody>
          <a:bodyPr wrap="square" lIns="0" rIns="0" tIns="0" bIns="0" anchor="t">
            <a:spAutoFit/>
          </a:bodyPr>
          <a:lstStyle/>
          <a:p>
            <a:pPr algn="l">
              <a:spcAft>
                <a:spcPts val="0"/>
              </a:spcAft>
            </a:pPr>
            <a:r>
              <a:rPr sz="1400" b="1" i="0">
                <a:solidFill>
                  <a:srgbClr val="1B2430"/>
                </a:solidFill>
                <a:latin typeface="Calibri"/>
              </a:rPr>
              <a:t>Application: </a:t>
            </a:r>
            <a:r>
              <a:rPr sz="1400" b="0" i="0">
                <a:solidFill>
                  <a:srgbClr val="1B2430"/>
                </a:solidFill>
                <a:latin typeface="Calibri"/>
              </a:rPr>
              <a:t>after a crash, SOC, cell spread and temperatures read non-invasively through the socket.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B2430"/>
        </a:solidFill>
        <a:effectLst/>
      </p:bgPr>
    </p:bg>
    <p:spTree>
      <p:nvGrpSpPr>
        <p:cNvPr id="1" name=""/>
        <p:cNvGrpSpPr/>
        <p:nvPr/>
      </p:nvGrpSpPr>
      <p:grpSpPr/>
      <p:sp>
        <p:nvSpPr>
          <p:cNvPr id="2" name="TextBox 1"/>
          <p:cNvSpPr txBox="1"/>
          <p:nvPr/>
        </p:nvSpPr>
        <p:spPr>
          <a:xfrm>
            <a:off x="594360" y="384048"/>
            <a:ext cx="8229600" cy="274320"/>
          </a:xfrm>
          <a:prstGeom prst="rect">
            <a:avLst/>
          </a:prstGeom>
          <a:noFill/>
        </p:spPr>
        <p:txBody>
          <a:bodyPr wrap="square" lIns="0" rIns="0" tIns="0" bIns="0" anchor="t">
            <a:spAutoFit/>
          </a:bodyPr>
          <a:lstStyle/>
          <a:p>
            <a:pPr algn="l">
              <a:spcAft>
                <a:spcPts val="0"/>
              </a:spcAft>
            </a:pPr>
            <a:r>
              <a:rPr sz="1100" b="0" i="0">
                <a:solidFill>
                  <a:srgbClr val="B9DBD4"/>
                </a:solidFill>
                <a:latin typeface="Bahnschrift SemiBold"/>
              </a:rPr>
              <a:t>CONCLUSION</a:t>
            </a:r>
          </a:p>
        </p:txBody>
      </p:sp>
      <p:sp>
        <p:nvSpPr>
          <p:cNvPr id="3" name="TextBox 2"/>
          <p:cNvSpPr txBox="1"/>
          <p:nvPr/>
        </p:nvSpPr>
        <p:spPr>
          <a:xfrm>
            <a:off x="594360" y="658368"/>
            <a:ext cx="10972800" cy="1051560"/>
          </a:xfrm>
          <a:prstGeom prst="rect">
            <a:avLst/>
          </a:prstGeom>
          <a:noFill/>
        </p:spPr>
        <p:txBody>
          <a:bodyPr wrap="square" lIns="0" rIns="0" tIns="0" bIns="0" anchor="t">
            <a:spAutoFit/>
          </a:bodyPr>
          <a:lstStyle/>
          <a:p>
            <a:pPr algn="l">
              <a:lnSpc>
                <a:spcPct val="95000"/>
              </a:lnSpc>
              <a:spcAft>
                <a:spcPts val="0"/>
              </a:spcAft>
            </a:pPr>
            <a:r>
              <a:rPr sz="2700" b="0" i="0">
                <a:solidFill>
                  <a:srgbClr val="FFFFFF"/>
                </a:solidFill>
                <a:latin typeface="Bahnschrift SemiBold"/>
              </a:rPr>
              <a:t>Asking instead of listening reaches the battery through a production gateway</a:t>
            </a:r>
          </a:p>
        </p:txBody>
      </p:sp>
      <p:sp>
        <p:nvSpPr>
          <p:cNvPr id="4" name="TextBox 3"/>
          <p:cNvSpPr txBox="1"/>
          <p:nvPr/>
        </p:nvSpPr>
        <p:spPr>
          <a:xfrm>
            <a:off x="10972800" y="6419088"/>
            <a:ext cx="621792" cy="228600"/>
          </a:xfrm>
          <a:prstGeom prst="rect">
            <a:avLst/>
          </a:prstGeom>
          <a:noFill/>
        </p:spPr>
        <p:txBody>
          <a:bodyPr wrap="square" lIns="0" rIns="0" tIns="0" bIns="0" anchor="t">
            <a:spAutoFit/>
          </a:bodyPr>
          <a:lstStyle/>
          <a:p>
            <a:pPr algn="r">
              <a:spcAft>
                <a:spcPts val="0"/>
              </a:spcAft>
            </a:pPr>
            <a:r>
              <a:rPr sz="1000" b="0" i="0">
                <a:solidFill>
                  <a:srgbClr val="5F6B7A"/>
                </a:solidFill>
                <a:latin typeface="Calibri"/>
              </a:rPr>
              <a:t>15 / 15</a:t>
            </a:r>
          </a:p>
        </p:txBody>
      </p:sp>
      <p:sp>
        <p:nvSpPr>
          <p:cNvPr id="5" name="TextBox 4"/>
          <p:cNvSpPr txBox="1"/>
          <p:nvPr/>
        </p:nvSpPr>
        <p:spPr>
          <a:xfrm>
            <a:off x="594360" y="2011680"/>
            <a:ext cx="914400" cy="365760"/>
          </a:xfrm>
          <a:prstGeom prst="rect">
            <a:avLst/>
          </a:prstGeom>
          <a:noFill/>
        </p:spPr>
        <p:txBody>
          <a:bodyPr wrap="square" lIns="0" rIns="0" tIns="0" bIns="0" anchor="t">
            <a:spAutoFit/>
          </a:bodyPr>
          <a:lstStyle/>
          <a:p>
            <a:pPr algn="l">
              <a:spcAft>
                <a:spcPts val="0"/>
              </a:spcAft>
            </a:pPr>
            <a:r>
              <a:rPr sz="1500" b="0" i="0">
                <a:solidFill>
                  <a:srgbClr val="B9DBD4"/>
                </a:solidFill>
                <a:latin typeface="Bahnschrift SemiBold"/>
              </a:rPr>
              <a:t>RQ 1</a:t>
            </a:r>
          </a:p>
        </p:txBody>
      </p:sp>
      <p:sp>
        <p:nvSpPr>
          <p:cNvPr id="6" name="TextBox 5"/>
          <p:cNvSpPr txBox="1"/>
          <p:nvPr/>
        </p:nvSpPr>
        <p:spPr>
          <a:xfrm>
            <a:off x="1554480" y="2011680"/>
            <a:ext cx="4434840" cy="1645920"/>
          </a:xfrm>
          <a:prstGeom prst="rect">
            <a:avLst/>
          </a:prstGeom>
          <a:noFill/>
        </p:spPr>
        <p:txBody>
          <a:bodyPr wrap="square" lIns="0" rIns="0" tIns="0" bIns="0" anchor="t">
            <a:spAutoFit/>
          </a:bodyPr>
          <a:lstStyle/>
          <a:p>
            <a:pPr algn="l">
              <a:lnSpc>
                <a:spcPct val="98000"/>
              </a:lnSpc>
              <a:spcAft>
                <a:spcPts val="0"/>
              </a:spcAft>
            </a:pPr>
            <a:r>
              <a:rPr sz="1550" b="0" i="0">
                <a:solidFill>
                  <a:srgbClr val="FFFFFF"/>
                </a:solidFill>
                <a:latin typeface="Calibri"/>
              </a:rPr>
              <a:t>The socket carries the diagnostic bus; the gateway keeps the battery's broadcasts private. Not one broadcast frame of the car reached the socket.</a:t>
            </a:r>
          </a:p>
        </p:txBody>
      </p:sp>
      <p:sp>
        <p:nvSpPr>
          <p:cNvPr id="7" name="TextBox 6"/>
          <p:cNvSpPr txBox="1"/>
          <p:nvPr/>
        </p:nvSpPr>
        <p:spPr>
          <a:xfrm>
            <a:off x="6263640" y="2011680"/>
            <a:ext cx="914400" cy="365760"/>
          </a:xfrm>
          <a:prstGeom prst="rect">
            <a:avLst/>
          </a:prstGeom>
          <a:noFill/>
        </p:spPr>
        <p:txBody>
          <a:bodyPr wrap="square" lIns="0" rIns="0" tIns="0" bIns="0" anchor="t">
            <a:spAutoFit/>
          </a:bodyPr>
          <a:lstStyle/>
          <a:p>
            <a:pPr algn="l">
              <a:spcAft>
                <a:spcPts val="0"/>
              </a:spcAft>
            </a:pPr>
            <a:r>
              <a:rPr sz="1500" b="0" i="0">
                <a:solidFill>
                  <a:srgbClr val="B9DBD4"/>
                </a:solidFill>
                <a:latin typeface="Bahnschrift SemiBold"/>
              </a:rPr>
              <a:t>RQ 2</a:t>
            </a:r>
          </a:p>
        </p:txBody>
      </p:sp>
      <p:sp>
        <p:nvSpPr>
          <p:cNvPr id="8" name="TextBox 7"/>
          <p:cNvSpPr txBox="1"/>
          <p:nvPr/>
        </p:nvSpPr>
        <p:spPr>
          <a:xfrm>
            <a:off x="7223760" y="2011680"/>
            <a:ext cx="4434840" cy="1645920"/>
          </a:xfrm>
          <a:prstGeom prst="rect">
            <a:avLst/>
          </a:prstGeom>
          <a:noFill/>
        </p:spPr>
        <p:txBody>
          <a:bodyPr wrap="square" lIns="0" rIns="0" tIns="0" bIns="0" anchor="t">
            <a:spAutoFit/>
          </a:bodyPr>
          <a:lstStyle/>
          <a:p>
            <a:pPr algn="l">
              <a:lnSpc>
                <a:spcPct val="98000"/>
              </a:lnSpc>
              <a:spcAft>
                <a:spcPts val="0"/>
              </a:spcAft>
            </a:pPr>
            <a:r>
              <a:rPr sz="1550" b="0" i="0">
                <a:solidFill>
                  <a:srgbClr val="FFFFFF"/>
                </a:solidFill>
                <a:latin typeface="Calibri"/>
              </a:rPr>
              <a:t>Without unlocking: 52 of 60 identifiers answer, identically in every session; all 8 failures trace back to the logger or the session setup.</a:t>
            </a:r>
          </a:p>
        </p:txBody>
      </p:sp>
      <p:sp>
        <p:nvSpPr>
          <p:cNvPr id="9" name="TextBox 8"/>
          <p:cNvSpPr txBox="1"/>
          <p:nvPr/>
        </p:nvSpPr>
        <p:spPr>
          <a:xfrm>
            <a:off x="594360" y="3611880"/>
            <a:ext cx="914400" cy="365760"/>
          </a:xfrm>
          <a:prstGeom prst="rect">
            <a:avLst/>
          </a:prstGeom>
          <a:noFill/>
        </p:spPr>
        <p:txBody>
          <a:bodyPr wrap="square" lIns="0" rIns="0" tIns="0" bIns="0" anchor="t">
            <a:spAutoFit/>
          </a:bodyPr>
          <a:lstStyle/>
          <a:p>
            <a:pPr algn="l">
              <a:spcAft>
                <a:spcPts val="0"/>
              </a:spcAft>
            </a:pPr>
            <a:r>
              <a:rPr sz="1500" b="0" i="0">
                <a:solidFill>
                  <a:srgbClr val="B9DBD4"/>
                </a:solidFill>
                <a:latin typeface="Bahnschrift SemiBold"/>
              </a:rPr>
              <a:t>RQ 3</a:t>
            </a:r>
          </a:p>
        </p:txBody>
      </p:sp>
      <p:sp>
        <p:nvSpPr>
          <p:cNvPr id="10" name="TextBox 9"/>
          <p:cNvSpPr txBox="1"/>
          <p:nvPr/>
        </p:nvSpPr>
        <p:spPr>
          <a:xfrm>
            <a:off x="1554480" y="3611880"/>
            <a:ext cx="4434840" cy="1645920"/>
          </a:xfrm>
          <a:prstGeom prst="rect">
            <a:avLst/>
          </a:prstGeom>
          <a:noFill/>
        </p:spPr>
        <p:txBody>
          <a:bodyPr wrap="square" lIns="0" rIns="0" tIns="0" bIns="0" anchor="t">
            <a:spAutoFit/>
          </a:bodyPr>
          <a:lstStyle/>
          <a:p>
            <a:pPr algn="l">
              <a:lnSpc>
                <a:spcPct val="98000"/>
              </a:lnSpc>
              <a:spcAft>
                <a:spcPts val="0"/>
              </a:spcAft>
            </a:pPr>
            <a:r>
              <a:rPr sz="1550" b="0" i="0">
                <a:solidFill>
                  <a:srgbClr val="FFFFFF"/>
                </a:solidFill>
                <a:latin typeface="Calibri"/>
              </a:rPr>
              <a:t>The ID.3 formulas mostly transfer; three things they lack were found: the 1/4096 cell extremes, the 0x0FFE code, the 96-cell count.</a:t>
            </a:r>
          </a:p>
        </p:txBody>
      </p:sp>
      <p:sp>
        <p:nvSpPr>
          <p:cNvPr id="11" name="TextBox 10"/>
          <p:cNvSpPr txBox="1"/>
          <p:nvPr/>
        </p:nvSpPr>
        <p:spPr>
          <a:xfrm>
            <a:off x="6263640" y="3611880"/>
            <a:ext cx="914400" cy="365760"/>
          </a:xfrm>
          <a:prstGeom prst="rect">
            <a:avLst/>
          </a:prstGeom>
          <a:noFill/>
        </p:spPr>
        <p:txBody>
          <a:bodyPr wrap="square" lIns="0" rIns="0" tIns="0" bIns="0" anchor="t">
            <a:spAutoFit/>
          </a:bodyPr>
          <a:lstStyle/>
          <a:p>
            <a:pPr algn="l">
              <a:spcAft>
                <a:spcPts val="0"/>
              </a:spcAft>
            </a:pPr>
            <a:r>
              <a:rPr sz="1500" b="0" i="0">
                <a:solidFill>
                  <a:srgbClr val="B9DBD4"/>
                </a:solidFill>
                <a:latin typeface="Bahnschrift SemiBold"/>
              </a:rPr>
              <a:t>RQ 4</a:t>
            </a:r>
          </a:p>
        </p:txBody>
      </p:sp>
      <p:sp>
        <p:nvSpPr>
          <p:cNvPr id="12" name="TextBox 11"/>
          <p:cNvSpPr txBox="1"/>
          <p:nvPr/>
        </p:nvSpPr>
        <p:spPr>
          <a:xfrm>
            <a:off x="7223760" y="3611880"/>
            <a:ext cx="4434840" cy="1645920"/>
          </a:xfrm>
          <a:prstGeom prst="rect">
            <a:avLst/>
          </a:prstGeom>
          <a:noFill/>
        </p:spPr>
        <p:txBody>
          <a:bodyPr wrap="square" lIns="0" rIns="0" tIns="0" bIns="0" anchor="t">
            <a:spAutoFit/>
          </a:bodyPr>
          <a:lstStyle/>
          <a:p>
            <a:pPr algn="l">
              <a:lnSpc>
                <a:spcPct val="98000"/>
              </a:lnSpc>
              <a:spcAft>
                <a:spcPts val="0"/>
              </a:spcAft>
            </a:pPr>
            <a:r>
              <a:rPr sz="1550" b="0" i="0">
                <a:solidFill>
                  <a:srgbClr val="FFFFFF"/>
                </a:solidFill>
                <a:latin typeface="Calibri"/>
              </a:rPr>
              <a:t>2 signals validated against the real world, ≈ 12 by physical relations; the rest are plausible and are reported as such.</a:t>
            </a:r>
          </a:p>
        </p:txBody>
      </p:sp>
      <p:sp>
        <p:nvSpPr>
          <p:cNvPr id="13" name="TextBox 12"/>
          <p:cNvSpPr txBox="1"/>
          <p:nvPr/>
        </p:nvSpPr>
        <p:spPr>
          <a:xfrm>
            <a:off x="594360" y="5806440"/>
            <a:ext cx="10972800" cy="457200"/>
          </a:xfrm>
          <a:prstGeom prst="rect">
            <a:avLst/>
          </a:prstGeom>
          <a:noFill/>
        </p:spPr>
        <p:txBody>
          <a:bodyPr wrap="square" lIns="0" rIns="0" tIns="0" bIns="0" anchor="t">
            <a:spAutoFit/>
          </a:bodyPr>
          <a:lstStyle/>
          <a:p>
            <a:pPr algn="l">
              <a:spcAft>
                <a:spcPts val="0"/>
              </a:spcAft>
            </a:pPr>
            <a:r>
              <a:rPr sz="1800" b="0" i="0">
                <a:solidFill>
                  <a:srgbClr val="B8C2CC"/>
                </a:solidFill>
                <a:latin typeface="Bahnschrift SemiBold"/>
              </a:rPr>
              <a:t>Thank you. I look forward to your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